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976972E-4A31-422E-9E04-E382F448DAA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Добрый день, уважаемые члены комиссии!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Меня зовут Деменков Иван Михайлович, я студент 1 курса группы 12-25 РПмз заочной формы обучения.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Представляю вашему вниманию отчёт о прохождении учебной (ознакомительной) практики на кафедре программной инженерии и информационных технологий.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Тема работы — анализ системы синхронизации данных, обеспечивающей перенос информации из источников MySQL и MongoDB в аналитическое хранилище Google BigQuery.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FC2988-F56D-4538-9D20-902FCE08EDC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Целью практики являлось ознакомление с архитектурой системы синхронизации данных и анализ подходов к управлению ETL-процессами.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Для достижения цели были поставлены и решены шесть задач: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изучены понятие и классификация систем синхронизации;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проанализирована архитектура исследуемой системы;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изучены состав и особенности передаваемых данных;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исследован действующий механизм управления процессами;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проведён обзор современных средств оркестрации ETL;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сформулированы предложения по направлениям модернизации.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BB465A-7E08-4B50-AFBD-4B60A7697C1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Прежде чем переходить к описанию конкретной системы, необходимо кратко остановиться на основных понятиях.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ETL — это трёхэтапный процесс синхронизации данных.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Первый этап — Extract — извлечение данных из источников. В нашем случае это MySQL и MongoDB.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Второй этап — Transform — преобразование: приведение типов, нормализация временных меток, обработка строковых данных.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Третий этап — Load — загрузка в целевое аналитическое хранилище Google BigQuery с использованием операции MERGE.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Ключевая идея ETL — разделить транзакционную и аналитическую нагрузку: OLTP-системы оптимизированы для частых изменений, а OLAP-хранилища — для сложных агрегирующих запросов.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10AB97-D1D7-488E-9072-0B38E0F611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Перейдём к архитектуре исследуемой системы.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Слева — два источника данных. MySQL используется как основное транзакционное хранилище со строго типизированными структурами. MongoDB хранит слабоструктурированные данные со свободной схемой документов, что создаёт дополнительные требования к этапу преобразования.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В центре — ETL-процесс, включающий шесть этапов: определение диапазона данных, извлечение, преобразование, загрузку во временную таблицу, операцию MERGE с основной таблицей и фиксацию результата.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Справа — целевое аналитическое хранилище Google BigQuery. Его ключевые преимущества: высокая производительность аналитических запросов, поддержка SQL, масштабируемость и отсутствие необходимости администрировать серверную инфраструктуру.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Использование временных таблиц и операции MERGE обеспечивает атомарность загрузки, корректную обработку обновлений и возможность восстановления после ошибок.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4A77D8-0B06-4CD7-A0AA-1C634DC116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Управление процессами синхронизации в исследуемой системе реализовано через планировщик Rundeck.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Каждый процесс синхронизации состоит из набора PHP-скриптов, выполняющих отдельные этапы ETL. Расписания задаются через cron-выражения. Вся инфраструктура развёрнута в контейнерах Docker с использованием Docker Compose.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Однако в ходе анализа были выявлены существенные ограничения существующего подхода.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На левой стороне вы видите, как система работает сейчас.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На правой — шесть ключевых недостатков: логика ETL-процессов разбита по множеству скриптов, отсутствует централизованное описание зависимостей, сложно сопровождать и отлаживать, мониторинг слабый, расписания требуют ручного администрирования, и нет контроля параллелизма.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Именно эти ограничения обосновывают необходимость модернизации с использованием современных оркестраторов.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9D276C-82C4-471D-AD91-5275079EC0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Для определения направления модернизации был проведён сравнительный анализ трёх популярных средств оркестрации данных.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Apache Airflow — наиболее распространённое решение с развитой экосистемой и большим сообществом. Однако оно ориентировано на описание последовательностей задач, а не самих данных, и обладает ограниченной типизацией.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Prefect — современная альтернатива, где процессы описываются как обычные Python-функции с типизированной передачей данных. Минус — меньшая зрелость экосистемы и ориентация на облако.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Dagster — выделен в качестве наиболее перспективного решения. Он использует декларативный подход, где в центре архитектуры находятся не задачи, а активы данных и зависимости между ними. Это непосредственно соответствует природе ETL-систем. Дополнительные преимущества: встроенная типизация, контроль параллелизма и развитые средства мониторинга.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41A183-089F-48D5-A262-7E1FF543E77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На основании проведённого анализа определены четыре ключевых направления модернизации системы.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Первое — переход к централизованному описанию процессов. Вместо разрозненных PHP-скриптов — единая структура с явными зависимостями между этапами ETL.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Второе — унификация обработки ошибок. Современные оркестраторы предоставляют встроенные механизмы автоматического повторного запуска, уведомлений и мониторинга — без ручного вмешательства.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Третье — централизованный мониторинг. Это позволит отслеживать успешность выполнения, контролировать время, выявлять узкие места и анализировать нагрузку на источники.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Четвёртое — управление параллелизмом. В условиях роста объёмов данных бесконтрольное параллельное выполнение может перегружать источники. Специализированные механизмы позволят эффективнее распределять ресурсы.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E6E4F5-D11C-44DA-8B5D-9E842F00C74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Подводя итоги, можно констатировать, что цель практики — ознакомление с архитектурой системы синхронизации данных и подходами к управлению ETL-процессами — была полностью достигнута.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В ходе работы была изучена архитектура системы MySQL/MongoDB → BigQuery, исследован действующий механизм на базе PHP и Rundeck, выявлены его ограничения, проведён сравнительный анализ Airflow, Prefect и Dagster.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По результатам анализа Dagster обоснован как наиболее перспективная платформа для дальнейшей модернизации. Определены четыре ключевых направления развития архитектуры, которые планируется разработать в рамках выпускной квалификационной работы.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Спасибо за внимание. Готов ответить на ваши вопросы.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C823E8-EAB0-4CE0-A28F-7F59176F48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365760" y="27432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97" strike="noStrike">
                <a:solidFill>
                  <a:srgbClr val="14a0a4"/>
                </a:solidFill>
                <a:latin typeface="Calibri"/>
              </a:rPr>
              <a:t>ХЕРСОНСКИЙ ГОСУДАРСТВЕННЫЙ ПЕДАГОГИЧЕСКИЙ УНИВЕРСИТЕТ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65760" y="685800"/>
            <a:ext cx="8412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199" strike="noStrike">
                <a:solidFill>
                  <a:srgbClr val="7fa8c4"/>
                </a:solidFill>
                <a:latin typeface="Calibri"/>
              </a:rPr>
              <a:t>УЧЕБНАЯ ПРАКТИКА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199" strike="noStrike">
                <a:solidFill>
                  <a:srgbClr val="7fa8c4"/>
                </a:solidFill>
                <a:latin typeface="Calibri"/>
              </a:rPr>
              <a:t>ОЗНАКОМИТЕЛЬНАЯ ПРАКТИКА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365760" y="1371600"/>
            <a:ext cx="84121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АНАЛИЗ СИСТЕМЫ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СИНХРОНИЗАЦИИ ДАННЫХ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365760" y="301752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4a0a4"/>
                </a:solidFill>
                <a:latin typeface="Calibri"/>
              </a:rPr>
              <a:t>MySQL / MongoDB  →  Google BigQuery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743200" y="3566160"/>
            <a:ext cx="3657240" cy="36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365760" y="3749040"/>
            <a:ext cx="8412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0becd"/>
                </a:solidFill>
                <a:latin typeface="Calibri"/>
              </a:rPr>
              <a:t>Деменков Иван Михайлович  ·  1 курс, гр. 12-25 РПмз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0becd"/>
                </a:solidFill>
                <a:latin typeface="Calibri"/>
              </a:rPr>
              <a:t>Руководитель: Ю.В. Криницкий  ·  2026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365760" y="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ЦЕЛИ И ЗАДАЧИ ПРАКТИКИ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365760" y="1051560"/>
            <a:ext cx="3748680" cy="1234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365760" y="105156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cceeee"/>
                </a:solidFill>
                <a:latin typeface="Calibri"/>
              </a:rPr>
              <a:t>ЦЕЛЬ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502920" y="1417320"/>
            <a:ext cx="3474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Ознакомление с архитектурой системы синхронизации данных и анализ подходов к управлению ETL-процессами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4572000" y="105156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0d7377"/>
                </a:solidFill>
                <a:latin typeface="Calibri"/>
              </a:rPr>
              <a:t>ЗАДАЧИ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4572000" y="1517760"/>
            <a:ext cx="273960" cy="2739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4572000" y="14997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4937760" y="144468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Изучить понятие и классификацию систем синхронизации данных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9"/>
          <p:cNvSpPr/>
          <p:nvPr/>
        </p:nvSpPr>
        <p:spPr>
          <a:xfrm>
            <a:off x="4572000" y="2020680"/>
            <a:ext cx="273960" cy="2739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4572000" y="2002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4937760" y="194760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Проанализировать архитектуру исследуемой системы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2"/>
          <p:cNvSpPr/>
          <p:nvPr/>
        </p:nvSpPr>
        <p:spPr>
          <a:xfrm>
            <a:off x="4572000" y="2523600"/>
            <a:ext cx="273960" cy="2739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4572000" y="25056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4937760" y="245052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Исследовать состав и особенности передаваемых данных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5"/>
          <p:cNvSpPr/>
          <p:nvPr/>
        </p:nvSpPr>
        <p:spPr>
          <a:xfrm>
            <a:off x="4572000" y="3026520"/>
            <a:ext cx="273960" cy="2739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4572000" y="30085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4937760" y="295344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Изучить действующий механизм управления процессами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8"/>
          <p:cNvSpPr/>
          <p:nvPr/>
        </p:nvSpPr>
        <p:spPr>
          <a:xfrm>
            <a:off x="4572000" y="3529440"/>
            <a:ext cx="273960" cy="2739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4572000" y="35114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0"/>
          <p:cNvSpPr/>
          <p:nvPr/>
        </p:nvSpPr>
        <p:spPr>
          <a:xfrm>
            <a:off x="4937760" y="345636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Провести обзор современных средств оркестрации ETL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21"/>
          <p:cNvSpPr/>
          <p:nvPr/>
        </p:nvSpPr>
        <p:spPr>
          <a:xfrm>
            <a:off x="4572000" y="4032360"/>
            <a:ext cx="273960" cy="2739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22"/>
          <p:cNvSpPr/>
          <p:nvPr/>
        </p:nvSpPr>
        <p:spPr>
          <a:xfrm>
            <a:off x="4572000" y="40143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3"/>
          <p:cNvSpPr/>
          <p:nvPr/>
        </p:nvSpPr>
        <p:spPr>
          <a:xfrm>
            <a:off x="4937760" y="395928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Сформулировать предложения по модернизации системы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365760" y="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ETL: ОСНОВНЫЕ ПОНЯТИЯ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365760" y="1051560"/>
            <a:ext cx="2651400" cy="1645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365760" y="1051560"/>
            <a:ext cx="2651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99" strike="noStrike">
                <a:solidFill>
                  <a:srgbClr val="ffffff"/>
                </a:solidFill>
                <a:latin typeface="Calibri"/>
              </a:rPr>
              <a:t>EXTRACT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502920" y="1572840"/>
            <a:ext cx="2377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0eef0"/>
                </a:solidFill>
                <a:latin typeface="Calibri"/>
              </a:rPr>
              <a:t>Извлечение данных из источников: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0eef0"/>
                </a:solidFill>
                <a:latin typeface="Calibri"/>
              </a:rPr>
              <a:t>MySQL, MongoDB и других СУБД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5"/>
          <p:cNvSpPr/>
          <p:nvPr/>
        </p:nvSpPr>
        <p:spPr>
          <a:xfrm>
            <a:off x="3081600" y="1783080"/>
            <a:ext cx="209880" cy="36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3200400" y="1664280"/>
            <a:ext cx="18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59e0b"/>
                </a:solidFill>
                <a:latin typeface="Calibri"/>
              </a:rPr>
              <a:t>▶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3291840" y="1051560"/>
            <a:ext cx="2651400" cy="1645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3291840" y="1051560"/>
            <a:ext cx="2651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99" strike="noStrike">
                <a:solidFill>
                  <a:srgbClr val="ffffff"/>
                </a:solidFill>
                <a:latin typeface="Calibri"/>
              </a:rPr>
              <a:t>TRANSFORM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3429000" y="1572840"/>
            <a:ext cx="2377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0eef0"/>
                </a:solidFill>
                <a:latin typeface="Calibri"/>
              </a:rPr>
              <a:t>Преобразование типов, нормализация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0eef0"/>
                </a:solidFill>
                <a:latin typeface="Calibri"/>
              </a:rPr>
              <a:t>временных меток, обработка строк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6007680" y="1783080"/>
            <a:ext cx="209880" cy="36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6126480" y="1664280"/>
            <a:ext cx="18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59e0b"/>
                </a:solidFill>
                <a:latin typeface="Calibri"/>
              </a:rPr>
              <a:t>▶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2"/>
          <p:cNvSpPr/>
          <p:nvPr/>
        </p:nvSpPr>
        <p:spPr>
          <a:xfrm>
            <a:off x="6217920" y="1051560"/>
            <a:ext cx="2651400" cy="1645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6217920" y="1051560"/>
            <a:ext cx="2651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99" strike="noStrike">
                <a:solidFill>
                  <a:srgbClr val="ffffff"/>
                </a:solidFill>
                <a:latin typeface="Calibri"/>
              </a:rPr>
              <a:t>LOAD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6355080" y="1572840"/>
            <a:ext cx="2377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0eef0"/>
                </a:solidFill>
                <a:latin typeface="Calibri"/>
              </a:rPr>
              <a:t>Загрузка в аналитическое хранилище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0eef0"/>
                </a:solidFill>
                <a:latin typeface="Calibri"/>
              </a:rPr>
              <a:t>Google BigQuery через MERGE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5"/>
          <p:cNvSpPr/>
          <p:nvPr/>
        </p:nvSpPr>
        <p:spPr>
          <a:xfrm>
            <a:off x="365760" y="288036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</a:rPr>
              <a:t>Источники данных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6"/>
          <p:cNvSpPr/>
          <p:nvPr/>
        </p:nvSpPr>
        <p:spPr>
          <a:xfrm>
            <a:off x="365760" y="3246120"/>
            <a:ext cx="54360" cy="5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548640" y="317304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Транзакционные БД (OLTP)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8"/>
          <p:cNvSpPr/>
          <p:nvPr/>
        </p:nvSpPr>
        <p:spPr>
          <a:xfrm>
            <a:off x="365760" y="3630240"/>
            <a:ext cx="54360" cy="5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548640" y="355716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Реляционные СУБД (MySQL)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20"/>
          <p:cNvSpPr/>
          <p:nvPr/>
        </p:nvSpPr>
        <p:spPr>
          <a:xfrm>
            <a:off x="365760" y="4014360"/>
            <a:ext cx="54360" cy="5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548640" y="39409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Документоориентированные БД (MongoDB)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2"/>
          <p:cNvSpPr/>
          <p:nvPr/>
        </p:nvSpPr>
        <p:spPr>
          <a:xfrm>
            <a:off x="365760" y="4398120"/>
            <a:ext cx="54360" cy="5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23"/>
          <p:cNvSpPr/>
          <p:nvPr/>
        </p:nvSpPr>
        <p:spPr>
          <a:xfrm>
            <a:off x="548640" y="432504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Key-value хранилища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4"/>
          <p:cNvSpPr/>
          <p:nvPr/>
        </p:nvSpPr>
        <p:spPr>
          <a:xfrm>
            <a:off x="4846320" y="288036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7377"/>
                </a:solidFill>
                <a:latin typeface="Calibri"/>
              </a:rPr>
              <a:t>Целевые системы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25"/>
          <p:cNvSpPr/>
          <p:nvPr/>
        </p:nvSpPr>
        <p:spPr>
          <a:xfrm>
            <a:off x="4846320" y="3246120"/>
            <a:ext cx="54360" cy="5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26"/>
          <p:cNvSpPr/>
          <p:nvPr/>
        </p:nvSpPr>
        <p:spPr>
          <a:xfrm>
            <a:off x="5029200" y="317304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Аналитические хранилища (OLAP)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27"/>
          <p:cNvSpPr/>
          <p:nvPr/>
        </p:nvSpPr>
        <p:spPr>
          <a:xfrm>
            <a:off x="4846320" y="3630240"/>
            <a:ext cx="54360" cy="5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28"/>
          <p:cNvSpPr/>
          <p:nvPr/>
        </p:nvSpPr>
        <p:spPr>
          <a:xfrm>
            <a:off x="5029200" y="355716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Google BigQuery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9"/>
          <p:cNvSpPr/>
          <p:nvPr/>
        </p:nvSpPr>
        <p:spPr>
          <a:xfrm>
            <a:off x="4846320" y="4014360"/>
            <a:ext cx="54360" cy="5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30"/>
          <p:cNvSpPr/>
          <p:nvPr/>
        </p:nvSpPr>
        <p:spPr>
          <a:xfrm>
            <a:off x="5029200" y="39409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Сложные агрегирующие запросы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31"/>
          <p:cNvSpPr/>
          <p:nvPr/>
        </p:nvSpPr>
        <p:spPr>
          <a:xfrm>
            <a:off x="4846320" y="4398120"/>
            <a:ext cx="54360" cy="5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32"/>
          <p:cNvSpPr/>
          <p:nvPr/>
        </p:nvSpPr>
        <p:spPr>
          <a:xfrm>
            <a:off x="5029200" y="432504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Отчёты и BI-дэшборды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33"/>
          <p:cNvSpPr/>
          <p:nvPr/>
        </p:nvSpPr>
        <p:spPr>
          <a:xfrm>
            <a:off x="4389120" y="2880360"/>
            <a:ext cx="36360" cy="18284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365760" y="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АРХИТЕКТУРА СИСТЕМЫ СИНХРОНИЗАЦИИ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274320" y="10058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0d7377"/>
                </a:solidFill>
                <a:latin typeface="Calibri"/>
              </a:rPr>
              <a:t>ИСТОЧНИКИ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274320" y="1463040"/>
            <a:ext cx="2285640" cy="1096920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274320" y="146304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MySQL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411480" y="1865520"/>
            <a:ext cx="2011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f0d0"/>
                </a:solidFill>
                <a:latin typeface="Calibri"/>
              </a:rPr>
              <a:t>Транзакционная СУБД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f0d0"/>
                </a:solidFill>
                <a:latin typeface="Calibri"/>
              </a:rPr>
              <a:t>Строго типизированные структуры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274320" y="2834640"/>
            <a:ext cx="2285640" cy="1096920"/>
          </a:xfrm>
          <a:prstGeom prst="rect">
            <a:avLst/>
          </a:prstGeom>
          <a:solidFill>
            <a:srgbClr val="4db33d"/>
          </a:solidFill>
          <a:ln w="12700">
            <a:solidFill>
              <a:srgbClr val="4db33d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274320" y="283464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MongoDB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411480" y="3237120"/>
            <a:ext cx="2011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f0d0"/>
                </a:solidFill>
                <a:latin typeface="Calibri"/>
              </a:rPr>
              <a:t>Документо-ориентированное хранилище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f0d0"/>
                </a:solidFill>
                <a:latin typeface="Calibri"/>
              </a:rPr>
              <a:t>Свободная схема документов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9"/>
          <p:cNvSpPr/>
          <p:nvPr/>
        </p:nvSpPr>
        <p:spPr>
          <a:xfrm>
            <a:off x="3017520" y="10058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1a2b4a"/>
                </a:solidFill>
                <a:latin typeface="Calibri"/>
              </a:rPr>
              <a:t>ETL-ПРОЦЕСС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3017520" y="1463040"/>
            <a:ext cx="3108600" cy="28800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11"/>
          <p:cNvSpPr/>
          <p:nvPr/>
        </p:nvSpPr>
        <p:spPr>
          <a:xfrm>
            <a:off x="3154680" y="1572840"/>
            <a:ext cx="2834280" cy="328680"/>
          </a:xfrm>
          <a:prstGeom prst="rect">
            <a:avLst/>
          </a:prstGeom>
          <a:solidFill>
            <a:srgbClr val="1e3c65"/>
          </a:solidFill>
          <a:ln w="12700">
            <a:solidFill>
              <a:srgbClr val="2a4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3246120" y="157284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cdff5"/>
                </a:solidFill>
                <a:latin typeface="Calibri"/>
              </a:rPr>
              <a:t>1. Определение диапазона данных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3"/>
          <p:cNvSpPr/>
          <p:nvPr/>
        </p:nvSpPr>
        <p:spPr>
          <a:xfrm>
            <a:off x="3154680" y="2002680"/>
            <a:ext cx="2834280" cy="328680"/>
          </a:xfrm>
          <a:prstGeom prst="rect">
            <a:avLst/>
          </a:prstGeom>
          <a:solidFill>
            <a:srgbClr val="152d50"/>
          </a:solidFill>
          <a:ln w="12700">
            <a:solidFill>
              <a:srgbClr val="2a4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3246120" y="20026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cdff5"/>
                </a:solidFill>
                <a:latin typeface="Calibri"/>
              </a:rPr>
              <a:t>2. Извлечение данных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5"/>
          <p:cNvSpPr/>
          <p:nvPr/>
        </p:nvSpPr>
        <p:spPr>
          <a:xfrm>
            <a:off x="3154680" y="2432160"/>
            <a:ext cx="2834280" cy="328680"/>
          </a:xfrm>
          <a:prstGeom prst="rect">
            <a:avLst/>
          </a:prstGeom>
          <a:solidFill>
            <a:srgbClr val="1e3c65"/>
          </a:solidFill>
          <a:ln w="12700">
            <a:solidFill>
              <a:srgbClr val="2a4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6"/>
          <p:cNvSpPr/>
          <p:nvPr/>
        </p:nvSpPr>
        <p:spPr>
          <a:xfrm>
            <a:off x="3246120" y="243216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cdff5"/>
                </a:solidFill>
                <a:latin typeface="Calibri"/>
              </a:rPr>
              <a:t>3. Преобразование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7"/>
          <p:cNvSpPr/>
          <p:nvPr/>
        </p:nvSpPr>
        <p:spPr>
          <a:xfrm>
            <a:off x="3154680" y="2862000"/>
            <a:ext cx="2834280" cy="328680"/>
          </a:xfrm>
          <a:prstGeom prst="rect">
            <a:avLst/>
          </a:prstGeom>
          <a:solidFill>
            <a:srgbClr val="152d50"/>
          </a:solidFill>
          <a:ln w="12700">
            <a:solidFill>
              <a:srgbClr val="2a4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8"/>
          <p:cNvSpPr/>
          <p:nvPr/>
        </p:nvSpPr>
        <p:spPr>
          <a:xfrm>
            <a:off x="3246120" y="286200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cdff5"/>
                </a:solidFill>
                <a:latin typeface="Calibri"/>
              </a:rPr>
              <a:t>4. Загрузка во временную таблицу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9"/>
          <p:cNvSpPr/>
          <p:nvPr/>
        </p:nvSpPr>
        <p:spPr>
          <a:xfrm>
            <a:off x="3154680" y="3291840"/>
            <a:ext cx="2834280" cy="328680"/>
          </a:xfrm>
          <a:prstGeom prst="rect">
            <a:avLst/>
          </a:prstGeom>
          <a:solidFill>
            <a:srgbClr val="1e3c65"/>
          </a:solidFill>
          <a:ln w="12700">
            <a:solidFill>
              <a:srgbClr val="2a4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20"/>
          <p:cNvSpPr/>
          <p:nvPr/>
        </p:nvSpPr>
        <p:spPr>
          <a:xfrm>
            <a:off x="3246120" y="329184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cdff5"/>
                </a:solidFill>
                <a:latin typeface="Calibri"/>
              </a:rPr>
              <a:t>5. MERGE с основной таблицей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21"/>
          <p:cNvSpPr/>
          <p:nvPr/>
        </p:nvSpPr>
        <p:spPr>
          <a:xfrm>
            <a:off x="3154680" y="3721680"/>
            <a:ext cx="2834280" cy="328680"/>
          </a:xfrm>
          <a:prstGeom prst="rect">
            <a:avLst/>
          </a:prstGeom>
          <a:solidFill>
            <a:srgbClr val="152d50"/>
          </a:solidFill>
          <a:ln w="12700">
            <a:solidFill>
              <a:srgbClr val="2a4f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22"/>
          <p:cNvSpPr/>
          <p:nvPr/>
        </p:nvSpPr>
        <p:spPr>
          <a:xfrm>
            <a:off x="3246120" y="37216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cdff5"/>
                </a:solidFill>
                <a:latin typeface="Calibri"/>
              </a:rPr>
              <a:t>6. Фиксация результата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23"/>
          <p:cNvSpPr/>
          <p:nvPr/>
        </p:nvSpPr>
        <p:spPr>
          <a:xfrm>
            <a:off x="6583680" y="10058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0d7377"/>
                </a:solidFill>
                <a:latin typeface="Calibri"/>
              </a:rPr>
              <a:t>ХРАНИЛИЩЕ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24"/>
          <p:cNvSpPr/>
          <p:nvPr/>
        </p:nvSpPr>
        <p:spPr>
          <a:xfrm>
            <a:off x="6583680" y="1463040"/>
            <a:ext cx="2285640" cy="2880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25"/>
          <p:cNvSpPr/>
          <p:nvPr/>
        </p:nvSpPr>
        <p:spPr>
          <a:xfrm>
            <a:off x="6583680" y="146304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Google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BigQuery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26"/>
          <p:cNvSpPr/>
          <p:nvPr/>
        </p:nvSpPr>
        <p:spPr>
          <a:xfrm>
            <a:off x="6656760" y="2377440"/>
            <a:ext cx="54360" cy="54360"/>
          </a:xfrm>
          <a:prstGeom prst="rect">
            <a:avLst/>
          </a:prstGeom>
          <a:solidFill>
            <a:srgbClr val="7ab4f5"/>
          </a:solidFill>
          <a:ln w="12700">
            <a:solidFill>
              <a:srgbClr val="7ab4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27"/>
          <p:cNvSpPr/>
          <p:nvPr/>
        </p:nvSpPr>
        <p:spPr>
          <a:xfrm>
            <a:off x="6812280" y="232272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5dcf8"/>
                </a:solidFill>
                <a:latin typeface="Calibri"/>
              </a:rPr>
              <a:t>Высокая производительность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28"/>
          <p:cNvSpPr/>
          <p:nvPr/>
        </p:nvSpPr>
        <p:spPr>
          <a:xfrm>
            <a:off x="6656760" y="2752200"/>
            <a:ext cx="54360" cy="54360"/>
          </a:xfrm>
          <a:prstGeom prst="rect">
            <a:avLst/>
          </a:prstGeom>
          <a:solidFill>
            <a:srgbClr val="7ab4f5"/>
          </a:solidFill>
          <a:ln w="12700">
            <a:solidFill>
              <a:srgbClr val="7ab4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9"/>
          <p:cNvSpPr/>
          <p:nvPr/>
        </p:nvSpPr>
        <p:spPr>
          <a:xfrm>
            <a:off x="6812280" y="269748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5dcf8"/>
                </a:solidFill>
                <a:latin typeface="Calibri"/>
              </a:rPr>
              <a:t>Поддержка SQL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30"/>
          <p:cNvSpPr/>
          <p:nvPr/>
        </p:nvSpPr>
        <p:spPr>
          <a:xfrm>
            <a:off x="6656760" y="3127320"/>
            <a:ext cx="54360" cy="54360"/>
          </a:xfrm>
          <a:prstGeom prst="rect">
            <a:avLst/>
          </a:prstGeom>
          <a:solidFill>
            <a:srgbClr val="7ab4f5"/>
          </a:solidFill>
          <a:ln w="12700">
            <a:solidFill>
              <a:srgbClr val="7ab4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31"/>
          <p:cNvSpPr/>
          <p:nvPr/>
        </p:nvSpPr>
        <p:spPr>
          <a:xfrm>
            <a:off x="6812280" y="307224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5dcf8"/>
                </a:solidFill>
                <a:latin typeface="Calibri"/>
              </a:rPr>
              <a:t>Масштабируемость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32"/>
          <p:cNvSpPr/>
          <p:nvPr/>
        </p:nvSpPr>
        <p:spPr>
          <a:xfrm>
            <a:off x="6656760" y="3502080"/>
            <a:ext cx="54360" cy="54360"/>
          </a:xfrm>
          <a:prstGeom prst="rect">
            <a:avLst/>
          </a:prstGeom>
          <a:solidFill>
            <a:srgbClr val="7ab4f5"/>
          </a:solidFill>
          <a:ln w="12700">
            <a:solidFill>
              <a:srgbClr val="7ab4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33"/>
          <p:cNvSpPr/>
          <p:nvPr/>
        </p:nvSpPr>
        <p:spPr>
          <a:xfrm>
            <a:off x="6812280" y="344736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5dcf8"/>
                </a:solidFill>
                <a:latin typeface="Calibri"/>
              </a:rPr>
              <a:t>Serverless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34"/>
          <p:cNvSpPr/>
          <p:nvPr/>
        </p:nvSpPr>
        <p:spPr>
          <a:xfrm>
            <a:off x="6656760" y="3877200"/>
            <a:ext cx="54360" cy="54360"/>
          </a:xfrm>
          <a:prstGeom prst="rect">
            <a:avLst/>
          </a:prstGeom>
          <a:solidFill>
            <a:srgbClr val="7ab4f5"/>
          </a:solidFill>
          <a:ln w="12700">
            <a:solidFill>
              <a:srgbClr val="7ab4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35"/>
          <p:cNvSpPr/>
          <p:nvPr/>
        </p:nvSpPr>
        <p:spPr>
          <a:xfrm>
            <a:off x="6812280" y="382212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5dcf8"/>
                </a:solidFill>
                <a:latin typeface="Calibri"/>
              </a:rPr>
              <a:t>Атомарная загрузка (MERGE)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36"/>
          <p:cNvSpPr/>
          <p:nvPr/>
        </p:nvSpPr>
        <p:spPr>
          <a:xfrm>
            <a:off x="2606040" y="1947600"/>
            <a:ext cx="383760" cy="36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37"/>
          <p:cNvSpPr/>
          <p:nvPr/>
        </p:nvSpPr>
        <p:spPr>
          <a:xfrm>
            <a:off x="2834640" y="1828800"/>
            <a:ext cx="18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59e0b"/>
                </a:solidFill>
                <a:latin typeface="Calibri"/>
              </a:rPr>
              <a:t>▶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38"/>
          <p:cNvSpPr/>
          <p:nvPr/>
        </p:nvSpPr>
        <p:spPr>
          <a:xfrm>
            <a:off x="2606040" y="3319200"/>
            <a:ext cx="383760" cy="36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39"/>
          <p:cNvSpPr/>
          <p:nvPr/>
        </p:nvSpPr>
        <p:spPr>
          <a:xfrm>
            <a:off x="2834640" y="3200400"/>
            <a:ext cx="18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59e0b"/>
                </a:solidFill>
                <a:latin typeface="Calibri"/>
              </a:rPr>
              <a:t>▶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40"/>
          <p:cNvSpPr/>
          <p:nvPr/>
        </p:nvSpPr>
        <p:spPr>
          <a:xfrm>
            <a:off x="6153840" y="2862000"/>
            <a:ext cx="402120" cy="36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41"/>
          <p:cNvSpPr/>
          <p:nvPr/>
        </p:nvSpPr>
        <p:spPr>
          <a:xfrm>
            <a:off x="6309360" y="2743200"/>
            <a:ext cx="18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59e0b"/>
                </a:solidFill>
                <a:latin typeface="Calibri"/>
              </a:rPr>
              <a:t>▶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365760" y="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ДЕЙСТВУЮЩИЙ МЕХАНИЗМ УПРАВЛЕНИЯ: RUNDECK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365760" y="100584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0d7377"/>
                </a:solidFill>
                <a:latin typeface="Calibri"/>
              </a:rPr>
              <a:t>КАК РАБОТАЕТ СЕЙЧАС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365760" y="1444680"/>
            <a:ext cx="54360" cy="5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567000" y="137160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PHP-скрипты реализуют каждый этап ETL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5"/>
          <p:cNvSpPr/>
          <p:nvPr/>
        </p:nvSpPr>
        <p:spPr>
          <a:xfrm>
            <a:off x="365760" y="1883520"/>
            <a:ext cx="54360" cy="5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567000" y="181044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Rundeck запускает скрипты по cron-расписанию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365760" y="2322720"/>
            <a:ext cx="54360" cy="5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567000" y="224928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Каждая сущность — отдельный процесс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>
            <a:off x="365760" y="2761560"/>
            <a:ext cx="54360" cy="5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567000" y="268848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Инкрементальная синхронизация по ID и timestamp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1"/>
          <p:cNvSpPr/>
          <p:nvPr/>
        </p:nvSpPr>
        <p:spPr>
          <a:xfrm>
            <a:off x="365760" y="3200400"/>
            <a:ext cx="54360" cy="5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2"/>
          <p:cNvSpPr/>
          <p:nvPr/>
        </p:nvSpPr>
        <p:spPr>
          <a:xfrm>
            <a:off x="567000" y="312732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Docker Compose для контейнеризации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3"/>
          <p:cNvSpPr/>
          <p:nvPr/>
        </p:nvSpPr>
        <p:spPr>
          <a:xfrm>
            <a:off x="365760" y="3639240"/>
            <a:ext cx="54360" cy="5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567000" y="356616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Логирование через стандартные механизмы Docker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5"/>
          <p:cNvSpPr/>
          <p:nvPr/>
        </p:nvSpPr>
        <p:spPr>
          <a:xfrm>
            <a:off x="4663440" y="960120"/>
            <a:ext cx="36360" cy="36572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6"/>
          <p:cNvSpPr/>
          <p:nvPr/>
        </p:nvSpPr>
        <p:spPr>
          <a:xfrm>
            <a:off x="4846320" y="100584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c0392b"/>
                </a:solidFill>
                <a:latin typeface="Calibri"/>
              </a:rPr>
              <a:t>ВЫЯВЛЕННЫЕ ОГРАНИЧЕНИЯ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7"/>
          <p:cNvSpPr/>
          <p:nvPr/>
        </p:nvSpPr>
        <p:spPr>
          <a:xfrm>
            <a:off x="4846320" y="1463040"/>
            <a:ext cx="200880" cy="200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18"/>
          <p:cNvSpPr/>
          <p:nvPr/>
        </p:nvSpPr>
        <p:spPr>
          <a:xfrm>
            <a:off x="4846320" y="143568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✕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9"/>
          <p:cNvSpPr/>
          <p:nvPr/>
        </p:nvSpPr>
        <p:spPr>
          <a:xfrm>
            <a:off x="5139000" y="138996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Фрагментация логики между множеством скриптов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20"/>
          <p:cNvSpPr/>
          <p:nvPr/>
        </p:nvSpPr>
        <p:spPr>
          <a:xfrm>
            <a:off x="4846320" y="1901880"/>
            <a:ext cx="200880" cy="200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21"/>
          <p:cNvSpPr/>
          <p:nvPr/>
        </p:nvSpPr>
        <p:spPr>
          <a:xfrm>
            <a:off x="4846320" y="187452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✕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22"/>
          <p:cNvSpPr/>
          <p:nvPr/>
        </p:nvSpPr>
        <p:spPr>
          <a:xfrm>
            <a:off x="5139000" y="182880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Отсутствие централизованного описания зависимостей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23"/>
          <p:cNvSpPr/>
          <p:nvPr/>
        </p:nvSpPr>
        <p:spPr>
          <a:xfrm>
            <a:off x="4846320" y="2340720"/>
            <a:ext cx="200880" cy="200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24"/>
          <p:cNvSpPr/>
          <p:nvPr/>
        </p:nvSpPr>
        <p:spPr>
          <a:xfrm>
            <a:off x="4846320" y="23133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✕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25"/>
          <p:cNvSpPr/>
          <p:nvPr/>
        </p:nvSpPr>
        <p:spPr>
          <a:xfrm>
            <a:off x="5139000" y="226764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Сложность сопровождения и отладки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6"/>
          <p:cNvSpPr/>
          <p:nvPr/>
        </p:nvSpPr>
        <p:spPr>
          <a:xfrm>
            <a:off x="4846320" y="2779920"/>
            <a:ext cx="200880" cy="200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27"/>
          <p:cNvSpPr/>
          <p:nvPr/>
        </p:nvSpPr>
        <p:spPr>
          <a:xfrm>
            <a:off x="4846320" y="275220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✕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28"/>
          <p:cNvSpPr/>
          <p:nvPr/>
        </p:nvSpPr>
        <p:spPr>
          <a:xfrm>
            <a:off x="5139000" y="270648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Слабый механизм мониторинга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9"/>
          <p:cNvSpPr/>
          <p:nvPr/>
        </p:nvSpPr>
        <p:spPr>
          <a:xfrm>
            <a:off x="4846320" y="3218760"/>
            <a:ext cx="200880" cy="200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30"/>
          <p:cNvSpPr/>
          <p:nvPr/>
        </p:nvSpPr>
        <p:spPr>
          <a:xfrm>
            <a:off x="4846320" y="319140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✕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31"/>
          <p:cNvSpPr/>
          <p:nvPr/>
        </p:nvSpPr>
        <p:spPr>
          <a:xfrm>
            <a:off x="5139000" y="314568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Ручное администрирование расписаний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32"/>
          <p:cNvSpPr/>
          <p:nvPr/>
        </p:nvSpPr>
        <p:spPr>
          <a:xfrm>
            <a:off x="4846320" y="3657600"/>
            <a:ext cx="200880" cy="200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33"/>
          <p:cNvSpPr/>
          <p:nvPr/>
        </p:nvSpPr>
        <p:spPr>
          <a:xfrm>
            <a:off x="4846320" y="363024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✕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34"/>
          <p:cNvSpPr/>
          <p:nvPr/>
        </p:nvSpPr>
        <p:spPr>
          <a:xfrm>
            <a:off x="5139000" y="358452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Отсутствие контроля параллелизма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365760" y="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СРАВНЕНИЕ СОВРЕМЕННЫХ СРЕДСТВ ОРКЕСТРАЦИИ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274320" y="1005840"/>
            <a:ext cx="2742840" cy="384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5822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274320" y="10058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25822"/>
                </a:solidFill>
                <a:latin typeface="Calibri"/>
              </a:rPr>
              <a:t>Apache Airflow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411480" y="15728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227755"/>
                </a:solidFill>
                <a:latin typeface="Calibri"/>
              </a:rPr>
              <a:t>ПЛЮСЫ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5"/>
          <p:cNvSpPr/>
          <p:nvPr/>
        </p:nvSpPr>
        <p:spPr>
          <a:xfrm>
            <a:off x="411480" y="1920240"/>
            <a:ext cx="54360" cy="54360"/>
          </a:xfrm>
          <a:prstGeom prst="rect">
            <a:avLst/>
          </a:prstGeom>
          <a:solidFill>
            <a:srgbClr val="227755"/>
          </a:solidFill>
          <a:ln w="12700">
            <a:solidFill>
              <a:srgbClr val="2277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548640" y="18561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Развитая экосистема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411480" y="2267640"/>
            <a:ext cx="54360" cy="54360"/>
          </a:xfrm>
          <a:prstGeom prst="rect">
            <a:avLst/>
          </a:prstGeom>
          <a:solidFill>
            <a:srgbClr val="227755"/>
          </a:solidFill>
          <a:ln w="12700">
            <a:solidFill>
              <a:srgbClr val="2277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548640" y="22035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Большое сообщество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9"/>
          <p:cNvSpPr/>
          <p:nvPr/>
        </p:nvSpPr>
        <p:spPr>
          <a:xfrm>
            <a:off x="411480" y="2615040"/>
            <a:ext cx="54360" cy="54360"/>
          </a:xfrm>
          <a:prstGeom prst="rect">
            <a:avLst/>
          </a:prstGeom>
          <a:solidFill>
            <a:srgbClr val="227755"/>
          </a:solidFill>
          <a:ln w="12700">
            <a:solidFill>
              <a:srgbClr val="2277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548640" y="25513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Много интеграций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1"/>
          <p:cNvSpPr/>
          <p:nvPr/>
        </p:nvSpPr>
        <p:spPr>
          <a:xfrm>
            <a:off x="411480" y="2962800"/>
            <a:ext cx="54360" cy="54360"/>
          </a:xfrm>
          <a:prstGeom prst="rect">
            <a:avLst/>
          </a:prstGeom>
          <a:solidFill>
            <a:srgbClr val="227755"/>
          </a:solidFill>
          <a:ln w="12700">
            <a:solidFill>
              <a:srgbClr val="2277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2"/>
          <p:cNvSpPr/>
          <p:nvPr/>
        </p:nvSpPr>
        <p:spPr>
          <a:xfrm>
            <a:off x="548640" y="28987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DAG-граф задач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3"/>
          <p:cNvSpPr/>
          <p:nvPr/>
        </p:nvSpPr>
        <p:spPr>
          <a:xfrm>
            <a:off x="411480" y="353880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aa2222"/>
                </a:solidFill>
                <a:latin typeface="Calibri"/>
              </a:rPr>
              <a:t>МИНУСЫ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4"/>
          <p:cNvSpPr/>
          <p:nvPr/>
        </p:nvSpPr>
        <p:spPr>
          <a:xfrm>
            <a:off x="411480" y="3886200"/>
            <a:ext cx="54360" cy="54360"/>
          </a:xfrm>
          <a:prstGeom prst="rect">
            <a:avLst/>
          </a:prstGeom>
          <a:solidFill>
            <a:srgbClr val="aa2222"/>
          </a:solidFill>
          <a:ln w="12700">
            <a:solidFill>
              <a:srgbClr val="aa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5"/>
          <p:cNvSpPr/>
          <p:nvPr/>
        </p:nvSpPr>
        <p:spPr>
          <a:xfrm>
            <a:off x="548640" y="38131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Сложность тестирования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6"/>
          <p:cNvSpPr/>
          <p:nvPr/>
        </p:nvSpPr>
        <p:spPr>
          <a:xfrm>
            <a:off x="411480" y="4233600"/>
            <a:ext cx="54360" cy="54360"/>
          </a:xfrm>
          <a:prstGeom prst="rect">
            <a:avLst/>
          </a:prstGeom>
          <a:solidFill>
            <a:srgbClr val="aa2222"/>
          </a:solidFill>
          <a:ln w="12700">
            <a:solidFill>
              <a:srgbClr val="aa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17"/>
          <p:cNvSpPr/>
          <p:nvPr/>
        </p:nvSpPr>
        <p:spPr>
          <a:xfrm>
            <a:off x="548640" y="41605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Ориентация на задачи, не данные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18"/>
          <p:cNvSpPr/>
          <p:nvPr/>
        </p:nvSpPr>
        <p:spPr>
          <a:xfrm>
            <a:off x="411480" y="4581000"/>
            <a:ext cx="54360" cy="54360"/>
          </a:xfrm>
          <a:prstGeom prst="rect">
            <a:avLst/>
          </a:prstGeom>
          <a:solidFill>
            <a:srgbClr val="aa2222"/>
          </a:solidFill>
          <a:ln w="12700">
            <a:solidFill>
              <a:srgbClr val="aa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19"/>
          <p:cNvSpPr/>
          <p:nvPr/>
        </p:nvSpPr>
        <p:spPr>
          <a:xfrm>
            <a:off x="548640" y="45079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Ограниченная типизация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20"/>
          <p:cNvSpPr/>
          <p:nvPr/>
        </p:nvSpPr>
        <p:spPr>
          <a:xfrm>
            <a:off x="3246120" y="1005840"/>
            <a:ext cx="2742840" cy="384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533ff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21"/>
          <p:cNvSpPr/>
          <p:nvPr/>
        </p:nvSpPr>
        <p:spPr>
          <a:xfrm>
            <a:off x="3246120" y="10058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5533ff"/>
                </a:solidFill>
                <a:latin typeface="Calibri"/>
              </a:rPr>
              <a:t>Prefect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22"/>
          <p:cNvSpPr/>
          <p:nvPr/>
        </p:nvSpPr>
        <p:spPr>
          <a:xfrm>
            <a:off x="3383280" y="15728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227755"/>
                </a:solidFill>
                <a:latin typeface="Calibri"/>
              </a:rPr>
              <a:t>ПЛЮСЫ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23"/>
          <p:cNvSpPr/>
          <p:nvPr/>
        </p:nvSpPr>
        <p:spPr>
          <a:xfrm>
            <a:off x="3383280" y="1920240"/>
            <a:ext cx="54360" cy="54360"/>
          </a:xfrm>
          <a:prstGeom prst="rect">
            <a:avLst/>
          </a:prstGeom>
          <a:solidFill>
            <a:srgbClr val="227755"/>
          </a:solidFill>
          <a:ln w="12700">
            <a:solidFill>
              <a:srgbClr val="2277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24"/>
          <p:cNvSpPr/>
          <p:nvPr/>
        </p:nvSpPr>
        <p:spPr>
          <a:xfrm>
            <a:off x="3520440" y="18561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Обычные Python-функции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25"/>
          <p:cNvSpPr/>
          <p:nvPr/>
        </p:nvSpPr>
        <p:spPr>
          <a:xfrm>
            <a:off x="3383280" y="2267640"/>
            <a:ext cx="54360" cy="54360"/>
          </a:xfrm>
          <a:prstGeom prst="rect">
            <a:avLst/>
          </a:prstGeom>
          <a:solidFill>
            <a:srgbClr val="227755"/>
          </a:solidFill>
          <a:ln w="12700">
            <a:solidFill>
              <a:srgbClr val="2277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26"/>
          <p:cNvSpPr/>
          <p:nvPr/>
        </p:nvSpPr>
        <p:spPr>
          <a:xfrm>
            <a:off x="3520440" y="22035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Типизированная передача данных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27"/>
          <p:cNvSpPr/>
          <p:nvPr/>
        </p:nvSpPr>
        <p:spPr>
          <a:xfrm>
            <a:off x="3383280" y="2615040"/>
            <a:ext cx="54360" cy="54360"/>
          </a:xfrm>
          <a:prstGeom prst="rect">
            <a:avLst/>
          </a:prstGeom>
          <a:solidFill>
            <a:srgbClr val="227755"/>
          </a:solidFill>
          <a:ln w="12700">
            <a:solidFill>
              <a:srgbClr val="2277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28"/>
          <p:cNvSpPr/>
          <p:nvPr/>
        </p:nvSpPr>
        <p:spPr>
          <a:xfrm>
            <a:off x="3520440" y="25513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Упрощённая отладка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9"/>
          <p:cNvSpPr/>
          <p:nvPr/>
        </p:nvSpPr>
        <p:spPr>
          <a:xfrm>
            <a:off x="3383280" y="319140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aa2222"/>
                </a:solidFill>
                <a:latin typeface="Calibri"/>
              </a:rPr>
              <a:t>МИНУСЫ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30"/>
          <p:cNvSpPr/>
          <p:nvPr/>
        </p:nvSpPr>
        <p:spPr>
          <a:xfrm>
            <a:off x="3383280" y="3538800"/>
            <a:ext cx="54360" cy="54360"/>
          </a:xfrm>
          <a:prstGeom prst="rect">
            <a:avLst/>
          </a:prstGeom>
          <a:solidFill>
            <a:srgbClr val="aa2222"/>
          </a:solidFill>
          <a:ln w="12700">
            <a:solidFill>
              <a:srgbClr val="aa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31"/>
          <p:cNvSpPr/>
          <p:nvPr/>
        </p:nvSpPr>
        <p:spPr>
          <a:xfrm>
            <a:off x="3520440" y="34657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Меньшая зрелость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32"/>
          <p:cNvSpPr/>
          <p:nvPr/>
        </p:nvSpPr>
        <p:spPr>
          <a:xfrm>
            <a:off x="3383280" y="3886200"/>
            <a:ext cx="54360" cy="54360"/>
          </a:xfrm>
          <a:prstGeom prst="rect">
            <a:avLst/>
          </a:prstGeom>
          <a:solidFill>
            <a:srgbClr val="aa2222"/>
          </a:solidFill>
          <a:ln w="12700">
            <a:solidFill>
              <a:srgbClr val="aa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33"/>
          <p:cNvSpPr/>
          <p:nvPr/>
        </p:nvSpPr>
        <p:spPr>
          <a:xfrm>
            <a:off x="3520440" y="38131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Ориентация на облако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34"/>
          <p:cNvSpPr/>
          <p:nvPr/>
        </p:nvSpPr>
        <p:spPr>
          <a:xfrm>
            <a:off x="3383280" y="4233600"/>
            <a:ext cx="54360" cy="54360"/>
          </a:xfrm>
          <a:prstGeom prst="rect">
            <a:avLst/>
          </a:prstGeom>
          <a:solidFill>
            <a:srgbClr val="aa2222"/>
          </a:solidFill>
          <a:ln w="12700">
            <a:solidFill>
              <a:srgbClr val="aa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35"/>
          <p:cNvSpPr/>
          <p:nvPr/>
        </p:nvSpPr>
        <p:spPr>
          <a:xfrm>
            <a:off x="3520440" y="41605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Меньше интеграций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36"/>
          <p:cNvSpPr/>
          <p:nvPr/>
        </p:nvSpPr>
        <p:spPr>
          <a:xfrm>
            <a:off x="6217920" y="1005840"/>
            <a:ext cx="2742840" cy="384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37"/>
          <p:cNvSpPr/>
          <p:nvPr/>
        </p:nvSpPr>
        <p:spPr>
          <a:xfrm>
            <a:off x="6217920" y="10058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Dagster ★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38"/>
          <p:cNvSpPr/>
          <p:nvPr/>
        </p:nvSpPr>
        <p:spPr>
          <a:xfrm>
            <a:off x="6355080" y="15728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aaffee"/>
                </a:solidFill>
                <a:latin typeface="Calibri"/>
              </a:rPr>
              <a:t>ПЛЮСЫ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39"/>
          <p:cNvSpPr/>
          <p:nvPr/>
        </p:nvSpPr>
        <p:spPr>
          <a:xfrm>
            <a:off x="6355080" y="1920240"/>
            <a:ext cx="54360" cy="54360"/>
          </a:xfrm>
          <a:prstGeom prst="rect">
            <a:avLst/>
          </a:prstGeom>
          <a:solidFill>
            <a:srgbClr val="aaffee"/>
          </a:solidFill>
          <a:ln w="12700">
            <a:solidFill>
              <a:srgbClr val="aaff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40"/>
          <p:cNvSpPr/>
          <p:nvPr/>
        </p:nvSpPr>
        <p:spPr>
          <a:xfrm>
            <a:off x="6492240" y="18561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fff5"/>
                </a:solidFill>
                <a:latin typeface="Calibri"/>
              </a:rPr>
              <a:t>Декларативные активы данных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41"/>
          <p:cNvSpPr/>
          <p:nvPr/>
        </p:nvSpPr>
        <p:spPr>
          <a:xfrm>
            <a:off x="6355080" y="2267640"/>
            <a:ext cx="54360" cy="54360"/>
          </a:xfrm>
          <a:prstGeom prst="rect">
            <a:avLst/>
          </a:prstGeom>
          <a:solidFill>
            <a:srgbClr val="aaffee"/>
          </a:solidFill>
          <a:ln w="12700">
            <a:solidFill>
              <a:srgbClr val="aaff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42"/>
          <p:cNvSpPr/>
          <p:nvPr/>
        </p:nvSpPr>
        <p:spPr>
          <a:xfrm>
            <a:off x="6492240" y="22035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fff5"/>
                </a:solidFill>
                <a:latin typeface="Calibri"/>
              </a:rPr>
              <a:t>Встроенная типизация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43"/>
          <p:cNvSpPr/>
          <p:nvPr/>
        </p:nvSpPr>
        <p:spPr>
          <a:xfrm>
            <a:off x="6355080" y="2615040"/>
            <a:ext cx="54360" cy="54360"/>
          </a:xfrm>
          <a:prstGeom prst="rect">
            <a:avLst/>
          </a:prstGeom>
          <a:solidFill>
            <a:srgbClr val="aaffee"/>
          </a:solidFill>
          <a:ln w="12700">
            <a:solidFill>
              <a:srgbClr val="aaff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44"/>
          <p:cNvSpPr/>
          <p:nvPr/>
        </p:nvSpPr>
        <p:spPr>
          <a:xfrm>
            <a:off x="6492240" y="25513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fff5"/>
                </a:solidFill>
                <a:latin typeface="Calibri"/>
              </a:rPr>
              <a:t>Контроль параллелизма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45"/>
          <p:cNvSpPr/>
          <p:nvPr/>
        </p:nvSpPr>
        <p:spPr>
          <a:xfrm>
            <a:off x="6355080" y="2962800"/>
            <a:ext cx="54360" cy="54360"/>
          </a:xfrm>
          <a:prstGeom prst="rect">
            <a:avLst/>
          </a:prstGeom>
          <a:solidFill>
            <a:srgbClr val="aaffee"/>
          </a:solidFill>
          <a:ln w="12700">
            <a:solidFill>
              <a:srgbClr val="aaff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46"/>
          <p:cNvSpPr/>
          <p:nvPr/>
        </p:nvSpPr>
        <p:spPr>
          <a:xfrm>
            <a:off x="6492240" y="28987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fff5"/>
                </a:solidFill>
                <a:latin typeface="Calibri"/>
              </a:rPr>
              <a:t>Развитый мониторинг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47"/>
          <p:cNvSpPr/>
          <p:nvPr/>
        </p:nvSpPr>
        <p:spPr>
          <a:xfrm>
            <a:off x="6355080" y="353880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fd0d0"/>
                </a:solidFill>
                <a:latin typeface="Calibri"/>
              </a:rPr>
              <a:t>МИНУСЫ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48"/>
          <p:cNvSpPr/>
          <p:nvPr/>
        </p:nvSpPr>
        <p:spPr>
          <a:xfrm>
            <a:off x="6355080" y="3886200"/>
            <a:ext cx="54360" cy="54360"/>
          </a:xfrm>
          <a:prstGeom prst="rect">
            <a:avLst/>
          </a:prstGeom>
          <a:solidFill>
            <a:srgbClr val="ffd0d0"/>
          </a:solidFill>
          <a:ln w="12700">
            <a:solidFill>
              <a:srgbClr val="ff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49"/>
          <p:cNvSpPr/>
          <p:nvPr/>
        </p:nvSpPr>
        <p:spPr>
          <a:xfrm>
            <a:off x="6492240" y="38131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e0e0"/>
                </a:solidFill>
                <a:latin typeface="Calibri"/>
              </a:rPr>
              <a:t>Более крутая кривая обучения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50"/>
          <p:cNvSpPr/>
          <p:nvPr/>
        </p:nvSpPr>
        <p:spPr>
          <a:xfrm>
            <a:off x="6355080" y="4233600"/>
            <a:ext cx="54360" cy="54360"/>
          </a:xfrm>
          <a:prstGeom prst="rect">
            <a:avLst/>
          </a:prstGeom>
          <a:solidFill>
            <a:srgbClr val="ffd0d0"/>
          </a:solidFill>
          <a:ln w="12700">
            <a:solidFill>
              <a:srgbClr val="ff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51"/>
          <p:cNvSpPr/>
          <p:nvPr/>
        </p:nvSpPr>
        <p:spPr>
          <a:xfrm>
            <a:off x="6492240" y="41605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e0e0"/>
                </a:solidFill>
                <a:latin typeface="Calibri"/>
              </a:rPr>
              <a:t>Меньшее сообщество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365760" y="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ПЕРСПЕКТИВЫ МОДЕРНИЗАЦИИ СИСТЕМЫ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"/>
          <p:cNvSpPr/>
          <p:nvPr/>
        </p:nvSpPr>
        <p:spPr>
          <a:xfrm>
            <a:off x="365760" y="1097280"/>
            <a:ext cx="4023000" cy="1737000"/>
          </a:xfrm>
          <a:prstGeom prst="rect">
            <a:avLst/>
          </a:prstGeom>
          <a:solidFill>
            <a:srgbClr val="fafcfe"/>
          </a:solidFill>
          <a:ln w="12700">
            <a:solidFill>
              <a:srgbClr val="065a8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3"/>
          <p:cNvSpPr/>
          <p:nvPr/>
        </p:nvSpPr>
        <p:spPr>
          <a:xfrm>
            <a:off x="365760" y="1097280"/>
            <a:ext cx="456840" cy="1737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365760" y="1097280"/>
            <a:ext cx="4568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5"/>
          <p:cNvSpPr/>
          <p:nvPr/>
        </p:nvSpPr>
        <p:spPr>
          <a:xfrm>
            <a:off x="914400" y="123444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</a:rPr>
              <a:t>Централизованное описание процессов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914400" y="1664280"/>
            <a:ext cx="338292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Переход от разрозненных PHP-скриптов к единой структуре с явными зависимостями между этапами ETL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7"/>
          <p:cNvSpPr/>
          <p:nvPr/>
        </p:nvSpPr>
        <p:spPr>
          <a:xfrm>
            <a:off x="4754880" y="1097280"/>
            <a:ext cx="4023000" cy="1737000"/>
          </a:xfrm>
          <a:prstGeom prst="rect">
            <a:avLst/>
          </a:prstGeom>
          <a:solidFill>
            <a:srgbClr val="fafcfe"/>
          </a:solidFill>
          <a:ln w="12700">
            <a:solidFill>
              <a:srgbClr val="0d737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8"/>
          <p:cNvSpPr/>
          <p:nvPr/>
        </p:nvSpPr>
        <p:spPr>
          <a:xfrm>
            <a:off x="4754880" y="1097280"/>
            <a:ext cx="456840" cy="1737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9"/>
          <p:cNvSpPr/>
          <p:nvPr/>
        </p:nvSpPr>
        <p:spPr>
          <a:xfrm>
            <a:off x="4754880" y="1097280"/>
            <a:ext cx="4568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0"/>
          <p:cNvSpPr/>
          <p:nvPr/>
        </p:nvSpPr>
        <p:spPr>
          <a:xfrm>
            <a:off x="5303520" y="123444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d7377"/>
                </a:solidFill>
                <a:latin typeface="Calibri"/>
              </a:rPr>
              <a:t>Унификация обработки ошибок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1"/>
          <p:cNvSpPr/>
          <p:nvPr/>
        </p:nvSpPr>
        <p:spPr>
          <a:xfrm>
            <a:off x="5303520" y="1664280"/>
            <a:ext cx="338292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Автоматический повторный запуск, уведомления и встроенный мониторинг вместо ручного вмешательства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12"/>
          <p:cNvSpPr/>
          <p:nvPr/>
        </p:nvSpPr>
        <p:spPr>
          <a:xfrm>
            <a:off x="365760" y="3063240"/>
            <a:ext cx="4023000" cy="1737000"/>
          </a:xfrm>
          <a:prstGeom prst="rect">
            <a:avLst/>
          </a:prstGeom>
          <a:solidFill>
            <a:srgbClr val="fafcfe"/>
          </a:solidFill>
          <a:ln w="12700">
            <a:solidFill>
              <a:srgbClr val="02809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13"/>
          <p:cNvSpPr/>
          <p:nvPr/>
        </p:nvSpPr>
        <p:spPr>
          <a:xfrm>
            <a:off x="365760" y="3063240"/>
            <a:ext cx="456840" cy="1737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4"/>
          <p:cNvSpPr/>
          <p:nvPr/>
        </p:nvSpPr>
        <p:spPr>
          <a:xfrm>
            <a:off x="365760" y="3063240"/>
            <a:ext cx="4568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914400" y="320040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8090"/>
                </a:solidFill>
                <a:latin typeface="Calibri"/>
              </a:rPr>
              <a:t>Централизованный мониторинг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6"/>
          <p:cNvSpPr/>
          <p:nvPr/>
        </p:nvSpPr>
        <p:spPr>
          <a:xfrm>
            <a:off x="914400" y="3630240"/>
            <a:ext cx="338292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Отслеживание успешности, контроль времени выполнения, выявление узких мест в цепочке синхронизации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7"/>
          <p:cNvSpPr/>
          <p:nvPr/>
        </p:nvSpPr>
        <p:spPr>
          <a:xfrm>
            <a:off x="4754880" y="3063240"/>
            <a:ext cx="4023000" cy="1737000"/>
          </a:xfrm>
          <a:prstGeom prst="rect">
            <a:avLst/>
          </a:prstGeom>
          <a:solidFill>
            <a:srgbClr val="fafcfe"/>
          </a:solidFill>
          <a:ln w="12700">
            <a:solidFill>
              <a:srgbClr val="1967d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8"/>
          <p:cNvSpPr/>
          <p:nvPr/>
        </p:nvSpPr>
        <p:spPr>
          <a:xfrm>
            <a:off x="4754880" y="3063240"/>
            <a:ext cx="456840" cy="1737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19"/>
          <p:cNvSpPr/>
          <p:nvPr/>
        </p:nvSpPr>
        <p:spPr>
          <a:xfrm>
            <a:off x="4754880" y="3063240"/>
            <a:ext cx="4568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20"/>
          <p:cNvSpPr/>
          <p:nvPr/>
        </p:nvSpPr>
        <p:spPr>
          <a:xfrm>
            <a:off x="5303520" y="320040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967d2"/>
                </a:solidFill>
                <a:latin typeface="Calibri"/>
              </a:rPr>
              <a:t>Управление параллелизмом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21"/>
          <p:cNvSpPr/>
          <p:nvPr/>
        </p:nvSpPr>
        <p:spPr>
          <a:xfrm>
            <a:off x="5303520" y="3630240"/>
            <a:ext cx="338292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Ограничение параллельного выполнения для предотвращения перегрузки источников и деградации системы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365760" y="27432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299" strike="noStrike">
                <a:solidFill>
                  <a:srgbClr val="ffffff"/>
                </a:solidFill>
                <a:latin typeface="Calibri"/>
              </a:rPr>
              <a:t>ЗАКЛЮЧЕНИЕ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365760" y="9601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4a0a4"/>
                </a:solidFill>
                <a:latin typeface="Calibri"/>
              </a:rPr>
              <a:t>Результаты практики: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3"/>
          <p:cNvSpPr/>
          <p:nvPr/>
        </p:nvSpPr>
        <p:spPr>
          <a:xfrm>
            <a:off x="365760" y="1417320"/>
            <a:ext cx="200880" cy="200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4"/>
          <p:cNvSpPr/>
          <p:nvPr/>
        </p:nvSpPr>
        <p:spPr>
          <a:xfrm>
            <a:off x="365760" y="13899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5"/>
          <p:cNvSpPr/>
          <p:nvPr/>
        </p:nvSpPr>
        <p:spPr>
          <a:xfrm>
            <a:off x="658440" y="1344240"/>
            <a:ext cx="81378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8"/>
                </a:solidFill>
                <a:latin typeface="Calibri"/>
              </a:rPr>
              <a:t>Изучена архитектура системы синхронизации данных MySQL/MongoDB → BigQuery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6"/>
          <p:cNvSpPr/>
          <p:nvPr/>
        </p:nvSpPr>
        <p:spPr>
          <a:xfrm>
            <a:off x="365760" y="1874520"/>
            <a:ext cx="200880" cy="200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7"/>
          <p:cNvSpPr/>
          <p:nvPr/>
        </p:nvSpPr>
        <p:spPr>
          <a:xfrm>
            <a:off x="365760" y="18471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8"/>
          <p:cNvSpPr/>
          <p:nvPr/>
        </p:nvSpPr>
        <p:spPr>
          <a:xfrm>
            <a:off x="658440" y="1801440"/>
            <a:ext cx="81378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8"/>
                </a:solidFill>
                <a:latin typeface="Calibri"/>
              </a:rPr>
              <a:t>Исследован действующий механизм управления на основе PHP-скриптов и Rundeck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9"/>
          <p:cNvSpPr/>
          <p:nvPr/>
        </p:nvSpPr>
        <p:spPr>
          <a:xfrm>
            <a:off x="365760" y="2331720"/>
            <a:ext cx="200880" cy="200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10"/>
          <p:cNvSpPr/>
          <p:nvPr/>
        </p:nvSpPr>
        <p:spPr>
          <a:xfrm>
            <a:off x="365760" y="23043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1"/>
          <p:cNvSpPr/>
          <p:nvPr/>
        </p:nvSpPr>
        <p:spPr>
          <a:xfrm>
            <a:off x="658440" y="2258640"/>
            <a:ext cx="81378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8"/>
                </a:solidFill>
                <a:latin typeface="Calibri"/>
              </a:rPr>
              <a:t>Выявлены ограничения: сложность сопровождения, отсутствие централизованного управления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12"/>
          <p:cNvSpPr/>
          <p:nvPr/>
        </p:nvSpPr>
        <p:spPr>
          <a:xfrm>
            <a:off x="365760" y="2788920"/>
            <a:ext cx="200880" cy="200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13"/>
          <p:cNvSpPr/>
          <p:nvPr/>
        </p:nvSpPr>
        <p:spPr>
          <a:xfrm>
            <a:off x="365760" y="27615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14"/>
          <p:cNvSpPr/>
          <p:nvPr/>
        </p:nvSpPr>
        <p:spPr>
          <a:xfrm>
            <a:off x="658440" y="2715840"/>
            <a:ext cx="81378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8"/>
                </a:solidFill>
                <a:latin typeface="Calibri"/>
              </a:rPr>
              <a:t>Проведён сравнительный анализ Apache Airflow, Prefect и Dagster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15"/>
          <p:cNvSpPr/>
          <p:nvPr/>
        </p:nvSpPr>
        <p:spPr>
          <a:xfrm>
            <a:off x="365760" y="3246120"/>
            <a:ext cx="200880" cy="200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6"/>
          <p:cNvSpPr/>
          <p:nvPr/>
        </p:nvSpPr>
        <p:spPr>
          <a:xfrm>
            <a:off x="365760" y="32187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17"/>
          <p:cNvSpPr/>
          <p:nvPr/>
        </p:nvSpPr>
        <p:spPr>
          <a:xfrm>
            <a:off x="658440" y="3173040"/>
            <a:ext cx="81378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8"/>
                </a:solidFill>
                <a:latin typeface="Calibri"/>
              </a:rPr>
              <a:t>Обосновано использование Dagster для модернизации системы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18"/>
          <p:cNvSpPr/>
          <p:nvPr/>
        </p:nvSpPr>
        <p:spPr>
          <a:xfrm>
            <a:off x="365760" y="3703320"/>
            <a:ext cx="200880" cy="200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19"/>
          <p:cNvSpPr/>
          <p:nvPr/>
        </p:nvSpPr>
        <p:spPr>
          <a:xfrm>
            <a:off x="365760" y="36759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20"/>
          <p:cNvSpPr/>
          <p:nvPr/>
        </p:nvSpPr>
        <p:spPr>
          <a:xfrm>
            <a:off x="658440" y="3630240"/>
            <a:ext cx="81378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8"/>
                </a:solidFill>
                <a:latin typeface="Calibri"/>
              </a:rPr>
              <a:t>Определены 4 ключевых направления развития архитектуры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21"/>
          <p:cNvSpPr/>
          <p:nvPr/>
        </p:nvSpPr>
        <p:spPr>
          <a:xfrm>
            <a:off x="365760" y="4370760"/>
            <a:ext cx="8412120" cy="36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22"/>
          <p:cNvSpPr/>
          <p:nvPr/>
        </p:nvSpPr>
        <p:spPr>
          <a:xfrm>
            <a:off x="365760" y="448056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fa8c4"/>
                </a:solidFill>
                <a:latin typeface="Calibri"/>
              </a:rPr>
              <a:t>Деменков И.М.  ·  Гр. 12-25 РПмз  ·  ХГПУ  ·  2026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2026-05-22T11:51:26Z</dcterms:created>
  <dc:creator>PptxGenJS</dc:creator>
  <dc:description/>
  <dc:language>en-US</dc:language>
  <cp:lastModifiedBy/>
  <dcterms:modified xsi:type="dcterms:W3CDTF">2026-05-22T15:01:45Z</dcterms:modified>
  <cp:revision>2</cp:revision>
  <dc:subject>PptxGenJS Presentation</dc:subject>
  <dc:title>Синхронизация данных. Учебная практика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