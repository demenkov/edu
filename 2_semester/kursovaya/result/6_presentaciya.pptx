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B0B1931-3A65-411F-A83C-ABAA6063BA1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Здравствуйте, уважаемая комиссия. Меня зовут Деменков Иван Михайлович, я обучающийся первого курса группы 12-25 РПмз, направления «Программная инженерия». Представляю курсовую работу на тему «Использование нейрокомпьютерных систем для предсказания климатических изменений», выполненную по дисциплине «Нейрокомпьютерные системы» под руководством профессора Круглого Дмитрия Григорьевича.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30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1D3C90-612A-4D4A-BE92-6F44F44B2F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Климатические изменения относятся к числу наиболее сложных природно-технических проблем современности. По данным Всемирной метеорологической организации, 2024 год стал самым тёплым в инструментальном ряду наблюдений: средняя температура превысила уровень 1850-1900 годов примерно на 1,55 градуса Цельсия.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Современные системы наблюдений — спутники, наземные станции, реанализ ERA5 с глубиной данных в 85 лет — формируют массивы информации гигабайтного и терабайтного масштаба. Объём и сложность этих данных требуют дополнительных методов анализа помимо классических физических моделей.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Именно здесь востребованы нейрокомпьютерные системы: они дополняют классическое моделирование, позволяя выявлять нелинейные зависимости в больших разнородных массивах данных. Этим обусловлена актуальность выбранной темы.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60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6B2928-DFB6-4F11-9854-521802BBE9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Цель работы — систематизировать теоретические сведения о нейрокомпьютерных системах и описать воспроизводимую схему их применения для предсказания климатических изменений.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Для достижения цели поставлены шесть задач: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1) рассмотреть понятие нейрокомпьютерных систем;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2) охарактеризовать климатические данные как объект анализа;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3) проанализировать архитектуры нейронных сетей;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4) определить этапы подготовки открытых данных;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5) описать схему построения модели;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6) рассмотреть метрики качества и охарактеризовать ограничения.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45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028DEF-5CCC-444F-901B-12D8944577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Объект исследования — нейрокомпьютерные системы как инструмент анализа сложных природных процессов.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Предмет — применение нейросетевых моделей к задачам предсказания климатических изменений с использованием открытых данных.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Использовались методы теоретического анализа литературы, сравнительного анализа архитектур, структурирования этапов обработки данных и описания метрик качества.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Особо подчеркну практическую значимость: она состоит в формировании ВОСПРОИЗВОДИМОЙ схемы. В практической части намеренно НЕ использовались вымышленные числовые результаты — вместо этого предложен строгий порядок действий, который позволяет получить проверяемые показатели при наличии реального набора данных.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45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1097EB-7D3B-483D-A3EC-C8851AA7FC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Перехожу к теоретической части. Нейрокомпьютерная система — это вычислительная система, использующая принципы искусственных нейронных сетей для обработки информации. Её ключевая особенность в том, что она не использует жёстко заданный алгоритм, а настраивает параметры на основе обучающих данных.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На схеме справа показана математическая модель искусственного нейрона. Входные сигналы x1, x2, x3 умножаются на весовые коэффициенты w1, w2, w3, суммируются с добавлением смещения b — это формула (1). Затем полученная сумма S пропускается через функцию активации f, которая вводит нелинейность — формула (2). На выходе получаем сигнал 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Совокупность таких нейронов образует слои, а совокупность слоёв — архитектуру модели. Нейрокомпьютерный подход относится к коннекционистской парадигме искусственного интеллекта: результат определяется не отдельным правилом, а топологией связей и значениями параметров.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60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AB4B2B-3B74-4DDC-B789-D39E76F521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Климатические данные обладают рядом особенностей, которые накладывают требования на модель.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Высокая размерность — глобальные сетки, вертикальные уровни — требует учёта пространственно-временной структуры.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Неоднородность форматов и единиц измерения требует унификации.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Пропуски и выбросы из-за отказов станций требуют контроля качества.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Тренд и сезонность требуют выделения временных признаков и корректного разделения выборок по времени.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Зависимость от прошлого, инерционность атмосферы и океана, требует применения рекуррентных или временных свёрточных архитектур.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 работе используются исключительно открытые источники данных, что обеспечивает воспроизводимость: NASA GISTEMP версии 4, NOAAGlobalTemp версии 6.1, ERA5 от Copernicus с реанализом с 1940 года, Copernicus Climate Data Store и NASA Earth Observatory.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60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A216FD-04FA-4CF9-955F-E472F280CE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 работе рассмотрены шесть основных типов архитектур.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Многослойный перцептрон MLP подходит для табличных признаков, но не учитывает временную структуру.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Рекуррентные сети LSTM и GRU специально разработаны для временных рядов и обладают памятью о предшествующих состояниях.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Свёрточные сети CNN эффективны для пространственных полей — карт температуры или давления.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Гибридные модели CNN-LSTM объединяют преимущества обоих подходов и учитывают пространственную и временную структуру одновременно.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Графовые нейронные сети GNN, на которых построена модель GraphCast от DeepMind, работают с глобальными сетками произвольной топологии.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Наконец, гибридные физико-информированные модели PINN интегрируют нейронные сети с физическими уравнениями, обеспечивая осмысленность результатов.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Вывод теоретической части: для учебной курсовой работы рационально применять LSTM или GRU при работе с временными рядами температуры либо свёрточные сети при работе с картами реанализа.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75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6C3DA9-1E92-4880-8F0F-F7DEE21A7D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Перехожу к практической части. На схеме представлены шесть этапов воспроизводимой подготовки климатических данных.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Первый этап — выбор источника. Фиксируется версия, период, охват и дата обращения.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Второй — загрузка данных в исходном формате: CSV, NetCDF или GRIB.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Третий — контроль качества: поиск пропусков, выбросов и физически невозможных значений.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Четвёртый — разделение временного ряда на обучающую, валидационную и тестовую части СТРОГО по времени, без перемешивания.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Пятый — нормализация по статистикам обучающей выборки.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Шестой — формирование временных окон заданной длины.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Хочу обратить особое внимание на два критических принципа. Первый: разделение строго по времени, а не случайное — иначе модель «подсматривает» в будущее и даёт завышенную точность. Второй: параметры нормализации запоминаются ТОЛЬКО по обучающей части и затем применяются к остальным выборкам. Нарушение этих принципов делает результат недостоверным.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75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B8CF00-5EB8-4FAD-8B8C-9CC680488E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 качестве учебной архитектуры предложена LSTM-модель со следующей структурой: входной слой принимает последовательность длиной T, далее идёт LSTM-слой с 64-128 ячейками для захвата временных зависимостей, слой Dropout с коэффициентом 0,2 для регуляризации, полносвязный слой с функцией активации ReLU и выходной слой, формирующий прогноз температуры.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Параметры обучения подобраны исходя из учебного характера задачи: длина окна 12-36 месяцев, оптимизатор Adam с темпом обучения 10⁻³, функция потерь — среднеквадратичная ошибка, размер батча 32-128, от 30 до 100 эпох с механизмом ранней остановки.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Подчеркну: сравнение с базовыми моделями — наивным прогнозом, линейной регрессией, ARIMA — обязательно. Без него нельзя оценить, даёт ли LSTM реальное преимущество.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60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E19E29-0E13-4C7C-9A18-E7E08A2223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Для оценки качества прогноза используются три метрики.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MAE — средняя абсолютная ошибка — показывает среднее модульное отклонение прогноза от факта в единицах измерения данных. Это наиболее интуитивная метрика.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RMSE — корень из среднеквадратичной ошибки — сильнее штрафует крупные ошибки и поэтому полезен в климатических задачах, где аномалии особенно важны.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R² — коэффициент детерминации — показывает долю объяснённой моделью изменчивости. Однако его нужно интерпретировать осторожно при нестационарных рядах.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Принципиально важный момент: метрики рассчитываются ТОЛЬКО на тестовой выборке, которая не участвовала ни в обучении, ни в подборе гиперпараметров. Только это позволяет получить честную оценку способности модели к обобщению.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60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30D3FA-6208-486A-895D-D18F55FE99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 работе проанализированы основные ограничения подхода.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Главное ограничение — зависимость от качества данных: пропуски и смещения переходят прямо в прогноз. Второе — проблема «чёрного ящика»: глубокие сети дают результат, но плохо объясняют его. Третье — концептуальное различие между прогнозом погоды и климатическим прогнозом: модель, успешная на одном горизонте, не всегда работает на другом. Также важны ограничения на экстраполяцию за пределы условий обучения и высокие требования к вычислительным ресурсам.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Перспективы развития связаны с гибридными физически-информированными моделями PINN, методами объяснимого искусственного интеллекта, графовыми нейронными сетями, ансамблевыми подходами для оценки неопределённости и связью прогнозов с социально-экономическими задачами — энергетикой, сельским хозяйством, предупреждением чрезвычайных ситуаций.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60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B569EB-0AB2-4789-ACC6-5C8359A50F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Подведу итоги.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Первое: систематизированы теоретические основы — нейрокомпьютерные системы являются эффективным дополнением классических физических моделей при работе с большими разнородными массивами климатических данных.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Второе: описана воспроизводимая методика применения нейросетевых моделей к открытым климатическим данным, причём без использования вымышленных числовых результатов — это сознательный научный выбор.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Третье: обоснован выбор архитектуры и метрик: для климатических временных рядов рациональны LSTM, GRU и гибридные подходы CNN-LSTM, а качество оценивается по метрикам MAE, RMSE и R² на тестовой выборке.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Цель работы достигнута, поставленные задачи решены.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Благодарю за внимание. Готов ответить на ваши вопросы.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[Время: ≈ 45 секунд]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634880-EF60-4D09-B70C-65F71BA6F9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457200"/>
            <a:ext cx="1127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ХЕРСОНСКИЙ ГОСУДАРСТВЕННЫЙ ПЕДАГОГИЧЕСКИЙ УНИВЕРСИТЕТ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7200" y="868680"/>
            <a:ext cx="112734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Факультет информационных технологий, математики и физики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4114800" y="1463040"/>
            <a:ext cx="3931920" cy="360"/>
          </a:xfrm>
          <a:prstGeom prst="line">
            <a:avLst/>
          </a:prstGeom>
          <a:ln w="25400">
            <a:solidFill>
              <a:srgbClr val="FF8C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1691640"/>
            <a:ext cx="11273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400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КУРСОВАЯ РАБОТА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2377440"/>
            <a:ext cx="1127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Использование нейрокомпьютерных систем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3017520"/>
            <a:ext cx="1127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для предсказания климатических изменений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57200" y="3886200"/>
            <a:ext cx="1127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по дисциплине «Нейрокомпьютерные системы»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5029200" y="4526280"/>
            <a:ext cx="2103120" cy="360"/>
          </a:xfrm>
          <a:prstGeom prst="line">
            <a:avLst/>
          </a:prstGeom>
          <a:ln w="12700">
            <a:solidFill>
              <a:srgbClr val="5A7A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371600" y="49377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ВЫПОЛНИЛ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1371600" y="5212080"/>
            <a:ext cx="4113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Деменков Иван Михайлович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 курс, группа 12-25 РПмз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6858000" y="49377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НАУЧНЫЙ РУКОВОДИТЕЛЬ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858000" y="5212080"/>
            <a:ext cx="45709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профессор Круглый Дмитрий Георгиевич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Кафедра физики и программной инженерии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2"/>
          <p:cNvSpPr/>
          <p:nvPr/>
        </p:nvSpPr>
        <p:spPr>
          <a:xfrm>
            <a:off x="0" y="6400800"/>
            <a:ext cx="12187800" cy="45612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0" y="6400800"/>
            <a:ext cx="1218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Херсонская область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Актуальность темы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Почему климатические изменения требуют новых методов анализа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3"/>
          <p:cNvSpPr/>
          <p:nvPr/>
        </p:nvSpPr>
        <p:spPr>
          <a:xfrm>
            <a:off x="640080" y="1554480"/>
            <a:ext cx="566820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6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Климатические изменения</a:t>
            </a:r>
            <a:r>
              <a:rPr lang="en-US" sz="16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— одна из наиболее сложных природно-технических проблем современности.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Современные системы наблюдений формируют массивы данных, объём и сложность которых требуют </a:t>
            </a:r>
            <a:r>
              <a:rPr lang="en-US" sz="16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дополнительных методов анализа</a:t>
            </a:r>
            <a:r>
              <a:rPr lang="en-US" sz="16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помимо классических физических моделей.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4"/>
          <p:cNvSpPr/>
          <p:nvPr/>
        </p:nvSpPr>
        <p:spPr>
          <a:xfrm>
            <a:off x="6766560" y="1554480"/>
            <a:ext cx="4936680" cy="109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6766560" y="1554480"/>
            <a:ext cx="90360" cy="109620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7040880" y="164592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1,55°C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8961120" y="1691640"/>
            <a:ext cx="26964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превышение температуры в 2024 г. над уровнем 1850–1900 гг. (WMO)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6766560" y="2834640"/>
            <a:ext cx="4936680" cy="109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6766560" y="2834640"/>
            <a:ext cx="90360" cy="109620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7040880" y="292608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85 лет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8961120" y="2971800"/>
            <a:ext cx="26964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глубина данных реанализа ERA5 — с 1940 года по настоящее время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6766560" y="4114800"/>
            <a:ext cx="4936680" cy="109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6766560" y="4114800"/>
            <a:ext cx="90360" cy="109620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7040880" y="420624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TB/день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8961120" y="4251960"/>
            <a:ext cx="26964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объём поступающих климатических данных со спутников и реанализа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640080" y="5669280"/>
            <a:ext cx="10907640" cy="63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Нейрокомпьютерные системы дополняют классические физические модели, позволяя выявлять нелинейные зависимости в больших разнородных массивах данных.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2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Цель и задачи исследования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640080" y="1417320"/>
            <a:ext cx="10907640" cy="100476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868680" y="1508760"/>
            <a:ext cx="10962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ЦЕЛЬ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868680" y="1828800"/>
            <a:ext cx="106333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Систематизировать теоретические сведения о нейрокомпьютерных системах и описать воспроизводимую схему их применения для предсказания климатических изменений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640080" y="2606040"/>
            <a:ext cx="2742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ЗАДАЧИ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640080" y="3017520"/>
            <a:ext cx="3543840" cy="15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822960" y="3200400"/>
            <a:ext cx="501840" cy="5018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822960" y="32004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822960" y="3794760"/>
            <a:ext cx="31780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Рассмотреть понятие нейрокомпьютерных систем и принципы их работы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0"/>
          <p:cNvSpPr/>
          <p:nvPr/>
        </p:nvSpPr>
        <p:spPr>
          <a:xfrm>
            <a:off x="4322160" y="3017520"/>
            <a:ext cx="3543840" cy="15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1"/>
          <p:cNvSpPr/>
          <p:nvPr/>
        </p:nvSpPr>
        <p:spPr>
          <a:xfrm>
            <a:off x="4505040" y="3200400"/>
            <a:ext cx="501840" cy="5018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2"/>
          <p:cNvSpPr/>
          <p:nvPr/>
        </p:nvSpPr>
        <p:spPr>
          <a:xfrm>
            <a:off x="4505040" y="32004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3"/>
          <p:cNvSpPr/>
          <p:nvPr/>
        </p:nvSpPr>
        <p:spPr>
          <a:xfrm>
            <a:off x="4505040" y="3794760"/>
            <a:ext cx="31780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Охарактеризовать климатические данные как объект интеллектуального анализа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4"/>
          <p:cNvSpPr/>
          <p:nvPr/>
        </p:nvSpPr>
        <p:spPr>
          <a:xfrm>
            <a:off x="8003880" y="3017520"/>
            <a:ext cx="3543840" cy="15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5"/>
          <p:cNvSpPr/>
          <p:nvPr/>
        </p:nvSpPr>
        <p:spPr>
          <a:xfrm>
            <a:off x="8186760" y="3200400"/>
            <a:ext cx="501840" cy="5018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6"/>
          <p:cNvSpPr/>
          <p:nvPr/>
        </p:nvSpPr>
        <p:spPr>
          <a:xfrm>
            <a:off x="8186760" y="32004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7"/>
          <p:cNvSpPr/>
          <p:nvPr/>
        </p:nvSpPr>
        <p:spPr>
          <a:xfrm>
            <a:off x="8186760" y="3794760"/>
            <a:ext cx="31780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Проанализировать архитектуры нейронных сетей применительно к климатическим задачам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8"/>
          <p:cNvSpPr/>
          <p:nvPr/>
        </p:nvSpPr>
        <p:spPr>
          <a:xfrm>
            <a:off x="640080" y="4709160"/>
            <a:ext cx="3543840" cy="15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9"/>
          <p:cNvSpPr/>
          <p:nvPr/>
        </p:nvSpPr>
        <p:spPr>
          <a:xfrm>
            <a:off x="822960" y="4892040"/>
            <a:ext cx="501840" cy="5018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0"/>
          <p:cNvSpPr/>
          <p:nvPr/>
        </p:nvSpPr>
        <p:spPr>
          <a:xfrm>
            <a:off x="822960" y="48920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1"/>
          <p:cNvSpPr/>
          <p:nvPr/>
        </p:nvSpPr>
        <p:spPr>
          <a:xfrm>
            <a:off x="822960" y="5486400"/>
            <a:ext cx="31780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Определить этапы подготовки открытых климатических данных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2"/>
          <p:cNvSpPr/>
          <p:nvPr/>
        </p:nvSpPr>
        <p:spPr>
          <a:xfrm>
            <a:off x="4322160" y="4709160"/>
            <a:ext cx="3543840" cy="15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3"/>
          <p:cNvSpPr/>
          <p:nvPr/>
        </p:nvSpPr>
        <p:spPr>
          <a:xfrm>
            <a:off x="4505040" y="4892040"/>
            <a:ext cx="501840" cy="5018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4"/>
          <p:cNvSpPr/>
          <p:nvPr/>
        </p:nvSpPr>
        <p:spPr>
          <a:xfrm>
            <a:off x="4505040" y="48920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5"/>
          <p:cNvSpPr/>
          <p:nvPr/>
        </p:nvSpPr>
        <p:spPr>
          <a:xfrm>
            <a:off x="4505040" y="5486400"/>
            <a:ext cx="31780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Описать воспроизводимую схему построения нейросетевой модели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6"/>
          <p:cNvSpPr/>
          <p:nvPr/>
        </p:nvSpPr>
        <p:spPr>
          <a:xfrm>
            <a:off x="8003880" y="4709160"/>
            <a:ext cx="3543840" cy="15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7"/>
          <p:cNvSpPr/>
          <p:nvPr/>
        </p:nvSpPr>
        <p:spPr>
          <a:xfrm>
            <a:off x="8186760" y="4892040"/>
            <a:ext cx="501840" cy="5018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8"/>
          <p:cNvSpPr/>
          <p:nvPr/>
        </p:nvSpPr>
        <p:spPr>
          <a:xfrm>
            <a:off x="8186760" y="48920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9"/>
          <p:cNvSpPr/>
          <p:nvPr/>
        </p:nvSpPr>
        <p:spPr>
          <a:xfrm>
            <a:off x="8186760" y="5486400"/>
            <a:ext cx="31780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Рассмотреть метрики качества и охарактеризовать ограничения подхода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0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1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2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3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Объект, предмет и методы исследования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"/>
          <p:cNvSpPr/>
          <p:nvPr/>
        </p:nvSpPr>
        <p:spPr>
          <a:xfrm>
            <a:off x="640080" y="1554480"/>
            <a:ext cx="3513240" cy="411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3"/>
          <p:cNvSpPr/>
          <p:nvPr/>
        </p:nvSpPr>
        <p:spPr>
          <a:xfrm>
            <a:off x="640080" y="1554480"/>
            <a:ext cx="3513240" cy="73044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640080" y="1554480"/>
            <a:ext cx="35132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601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ОБЪЕКТ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5"/>
          <p:cNvSpPr/>
          <p:nvPr/>
        </p:nvSpPr>
        <p:spPr>
          <a:xfrm>
            <a:off x="914400" y="2560320"/>
            <a:ext cx="2964600" cy="29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Нейрокомпьютерные системы как инструмент анализа сложных природных процессов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6"/>
          <p:cNvSpPr/>
          <p:nvPr/>
        </p:nvSpPr>
        <p:spPr>
          <a:xfrm>
            <a:off x="4337280" y="1554480"/>
            <a:ext cx="3513240" cy="411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7"/>
          <p:cNvSpPr/>
          <p:nvPr/>
        </p:nvSpPr>
        <p:spPr>
          <a:xfrm>
            <a:off x="4337280" y="1554480"/>
            <a:ext cx="3513240" cy="73044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8"/>
          <p:cNvSpPr/>
          <p:nvPr/>
        </p:nvSpPr>
        <p:spPr>
          <a:xfrm>
            <a:off x="4337280" y="1554480"/>
            <a:ext cx="35132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601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ПРЕДМЕТ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4611600" y="2560320"/>
            <a:ext cx="2964600" cy="29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Применение нейросетевых моделей к задачам предсказания климатических изменений с использованием открытых данных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0"/>
          <p:cNvSpPr/>
          <p:nvPr/>
        </p:nvSpPr>
        <p:spPr>
          <a:xfrm>
            <a:off x="8034480" y="1554480"/>
            <a:ext cx="3513240" cy="411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1"/>
          <p:cNvSpPr/>
          <p:nvPr/>
        </p:nvSpPr>
        <p:spPr>
          <a:xfrm>
            <a:off x="8034480" y="1554480"/>
            <a:ext cx="3513240" cy="73044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2"/>
          <p:cNvSpPr/>
          <p:nvPr/>
        </p:nvSpPr>
        <p:spPr>
          <a:xfrm>
            <a:off x="8034480" y="1554480"/>
            <a:ext cx="35132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601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МЕТОДЫ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3"/>
          <p:cNvSpPr/>
          <p:nvPr/>
        </p:nvSpPr>
        <p:spPr>
          <a:xfrm>
            <a:off x="8308800" y="2560320"/>
            <a:ext cx="2964600" cy="29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Теоретический анализ литературы, сравнительный анализ архитектур, структурирование этапов обработки данных, описание метрик качества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4"/>
          <p:cNvSpPr/>
          <p:nvPr/>
        </p:nvSpPr>
        <p:spPr>
          <a:xfrm>
            <a:off x="640080" y="5806440"/>
            <a:ext cx="10907640" cy="639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7080" tIns="127080" rIns="127080" bIns="1270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pc="201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ПРАКТИЧЕСКАЯ ЗНАЧИМОСТЬ. </a:t>
            </a:r>
            <a:r>
              <a:rPr lang="en-US" sz="1200" b="0" i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Формирование воспроизводимой схемы применения нейрокомпьютерных систем к климатическим данным без использования вымышленных числовых результатов.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5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6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4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Нейрокомпьютерные системы: основа подхода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1.1 теоретической части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640080" y="1554480"/>
            <a:ext cx="502812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Нейрокомпьютерная система</a:t>
            </a:r>
            <a:r>
              <a:rPr lang="en-US" sz="14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— вычислительная система, использующая принципы искусственных нейронных сетей для обработки информации.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Ключевая особенность: </a:t>
            </a:r>
            <a:r>
              <a:rPr lang="en-US" sz="14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система не использует жёстко заданный алгоритм</a:t>
            </a:r>
            <a:r>
              <a:rPr lang="en-US" sz="14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, а настраивает параметры на основе обучающих данных, постепенно уменьшая ошибку.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Относится к коннекционистской парадигме ИИ: результат определяется топологией связей и значениями параметров.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"/>
          <p:cNvSpPr/>
          <p:nvPr/>
        </p:nvSpPr>
        <p:spPr>
          <a:xfrm>
            <a:off x="640080" y="4937760"/>
            <a:ext cx="5028120" cy="137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777240" y="5029200"/>
            <a:ext cx="4753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МАТЕМАТИЧЕСКАЯ МОДЕЛЬ НЕЙРОНА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777240" y="5349240"/>
            <a:ext cx="475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S = Σ wᵢxᵢ + b</a:t>
            </a:r>
            <a:r>
              <a:rPr lang="en-US" sz="1600" b="0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                         Взвешенная сумма входов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777240" y="5760720"/>
            <a:ext cx="475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y = f(S)</a:t>
            </a:r>
            <a:r>
              <a:rPr lang="en-US" sz="1600" b="0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                                    Функция активации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8"/>
          <p:cNvSpPr/>
          <p:nvPr/>
        </p:nvSpPr>
        <p:spPr>
          <a:xfrm>
            <a:off x="6126480" y="1554480"/>
            <a:ext cx="5576760" cy="475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6263640" y="1691640"/>
            <a:ext cx="5302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Схема искусственного нейрона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0"/>
          <p:cNvSpPr/>
          <p:nvPr/>
        </p:nvSpPr>
        <p:spPr>
          <a:xfrm>
            <a:off x="6355080" y="2468880"/>
            <a:ext cx="639000" cy="5018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6355080" y="2468880"/>
            <a:ext cx="6390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x₁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2"/>
          <p:cNvSpPr/>
          <p:nvPr/>
        </p:nvSpPr>
        <p:spPr>
          <a:xfrm>
            <a:off x="7040880" y="2720160"/>
            <a:ext cx="1417320" cy="1188720"/>
          </a:xfrm>
          <a:prstGeom prst="line">
            <a:avLst/>
          </a:prstGeom>
          <a:ln w="190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7315200" y="242316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FF8C42"/>
                </a:solidFill>
                <a:effectLst/>
                <a:uFillTx/>
                <a:latin typeface="Cambria"/>
                <a:ea typeface="Cambria"/>
              </a:rPr>
              <a:t>w₁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4"/>
          <p:cNvSpPr/>
          <p:nvPr/>
        </p:nvSpPr>
        <p:spPr>
          <a:xfrm>
            <a:off x="6355080" y="3474720"/>
            <a:ext cx="639000" cy="5018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5"/>
          <p:cNvSpPr/>
          <p:nvPr/>
        </p:nvSpPr>
        <p:spPr>
          <a:xfrm>
            <a:off x="6355080" y="3474720"/>
            <a:ext cx="6390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x₂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6"/>
          <p:cNvSpPr/>
          <p:nvPr/>
        </p:nvSpPr>
        <p:spPr>
          <a:xfrm>
            <a:off x="7040880" y="3726000"/>
            <a:ext cx="1417320" cy="182880"/>
          </a:xfrm>
          <a:prstGeom prst="line">
            <a:avLst/>
          </a:prstGeom>
          <a:ln w="190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7"/>
          <p:cNvSpPr/>
          <p:nvPr/>
        </p:nvSpPr>
        <p:spPr>
          <a:xfrm>
            <a:off x="7315200" y="34290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FF8C42"/>
                </a:solidFill>
                <a:effectLst/>
                <a:uFillTx/>
                <a:latin typeface="Cambria"/>
                <a:ea typeface="Cambria"/>
              </a:rPr>
              <a:t>w₂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8"/>
          <p:cNvSpPr/>
          <p:nvPr/>
        </p:nvSpPr>
        <p:spPr>
          <a:xfrm>
            <a:off x="6355080" y="4480560"/>
            <a:ext cx="639000" cy="5018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6355080" y="4480560"/>
            <a:ext cx="6390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x₃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0"/>
          <p:cNvSpPr/>
          <p:nvPr/>
        </p:nvSpPr>
        <p:spPr>
          <a:xfrm flipV="1">
            <a:off x="7040880" y="3908880"/>
            <a:ext cx="1417320" cy="822960"/>
          </a:xfrm>
          <a:prstGeom prst="line">
            <a:avLst/>
          </a:prstGeom>
          <a:ln w="190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1"/>
          <p:cNvSpPr/>
          <p:nvPr/>
        </p:nvSpPr>
        <p:spPr>
          <a:xfrm>
            <a:off x="7315200" y="44348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FF8C42"/>
                </a:solidFill>
                <a:effectLst/>
                <a:uFillTx/>
                <a:latin typeface="Cambria"/>
                <a:ea typeface="Cambria"/>
              </a:rPr>
              <a:t>w₃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"/>
          <p:cNvSpPr/>
          <p:nvPr/>
        </p:nvSpPr>
        <p:spPr>
          <a:xfrm>
            <a:off x="8503920" y="3474720"/>
            <a:ext cx="913320" cy="8676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3"/>
          <p:cNvSpPr/>
          <p:nvPr/>
        </p:nvSpPr>
        <p:spPr>
          <a:xfrm>
            <a:off x="8503920" y="3474720"/>
            <a:ext cx="9133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Σ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4"/>
          <p:cNvSpPr/>
          <p:nvPr/>
        </p:nvSpPr>
        <p:spPr>
          <a:xfrm>
            <a:off x="9418320" y="3908880"/>
            <a:ext cx="594360" cy="360"/>
          </a:xfrm>
          <a:prstGeom prst="line">
            <a:avLst/>
          </a:prstGeom>
          <a:ln w="190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5"/>
          <p:cNvSpPr/>
          <p:nvPr/>
        </p:nvSpPr>
        <p:spPr>
          <a:xfrm>
            <a:off x="9464040" y="361188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6878"/>
                </a:solidFill>
                <a:effectLst/>
                <a:uFillTx/>
                <a:latin typeface="Cambria"/>
                <a:ea typeface="Cambria"/>
              </a:rPr>
              <a:t>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6"/>
          <p:cNvSpPr/>
          <p:nvPr/>
        </p:nvSpPr>
        <p:spPr>
          <a:xfrm>
            <a:off x="10012680" y="3474720"/>
            <a:ext cx="867600" cy="86760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7"/>
          <p:cNvSpPr/>
          <p:nvPr/>
        </p:nvSpPr>
        <p:spPr>
          <a:xfrm>
            <a:off x="10012680" y="3474720"/>
            <a:ext cx="8676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f(S)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8"/>
          <p:cNvSpPr/>
          <p:nvPr/>
        </p:nvSpPr>
        <p:spPr>
          <a:xfrm>
            <a:off x="10881360" y="3908880"/>
            <a:ext cx="457200" cy="360"/>
          </a:xfrm>
          <a:prstGeom prst="line">
            <a:avLst/>
          </a:prstGeom>
          <a:ln w="190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9"/>
          <p:cNvSpPr/>
          <p:nvPr/>
        </p:nvSpPr>
        <p:spPr>
          <a:xfrm>
            <a:off x="11292840" y="3611880"/>
            <a:ext cx="3646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i="1" u="none" strike="noStrik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0"/>
          <p:cNvSpPr/>
          <p:nvPr/>
        </p:nvSpPr>
        <p:spPr>
          <a:xfrm>
            <a:off x="8641080" y="434340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FF8C42"/>
                </a:solidFill>
                <a:effectLst/>
                <a:uFillTx/>
                <a:latin typeface="Cambria"/>
                <a:ea typeface="Cambria"/>
              </a:rPr>
              <a:t>+ 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1"/>
          <p:cNvSpPr/>
          <p:nvPr/>
        </p:nvSpPr>
        <p:spPr>
          <a:xfrm>
            <a:off x="6263640" y="5943600"/>
            <a:ext cx="5302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Входы          ·          Веса          ·          Сумма          ·          Активация          ·          Выход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2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33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4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5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Климатические данные как объект анализа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1.2 — особенности и требования к модели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3" name="Table 0"/>
          <p:cNvGraphicFramePr/>
          <p:nvPr/>
        </p:nvGraphicFramePr>
        <p:xfrm>
          <a:off x="640080" y="1554480"/>
          <a:ext cx="7772040" cy="3840480"/>
        </p:xfrm>
        <a:graphic>
          <a:graphicData uri="http://schemas.openxmlformats.org/drawingml/2006/table">
            <a:tbl>
              <a:tblPr/>
              <a:tblGrid>
                <a:gridCol w="3200400"/>
                <a:gridCol w="4572000"/>
              </a:tblGrid>
              <a:tr h="640080">
                <a:tc>
                  <a:txBody>
                    <a:bodyPr lIns="101520" tIns="101520" rIns="101520" bIns="1015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Особенность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01520" marB="10152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lIns="101520" tIns="101520" rIns="101520" bIns="1015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Требование к модели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01520" marB="10152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</a:tr>
              <a:tr h="6400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Высокая размерность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(глобальные сетки, вертикальные уровни)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Учёт пространственно-временной структуры, регуляризация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Неоднородность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(разные форматы, частоты, единицы)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Унификация на этапе предобработки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</a:tr>
              <a:tr h="6400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Пропуски и выбросы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(отказы станций, аномалии)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Контроль качества, стратегия восстановления или исключения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Тренд и сезонность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Анализ аномалий, признаки сезонности, разделение выборок по времени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</a:tr>
              <a:tr h="6400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Зависимость от прошлого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(инерционность атмосферы и океана)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Рекуррентные или временные свёрточные архитектуры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4" name="Shape 3"/>
          <p:cNvSpPr/>
          <p:nvPr/>
        </p:nvSpPr>
        <p:spPr>
          <a:xfrm>
            <a:off x="8778240" y="1554480"/>
            <a:ext cx="2925000" cy="4570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8778240" y="1554480"/>
            <a:ext cx="2925000" cy="54756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8778240" y="1554480"/>
            <a:ext cx="2925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ОТКРЫТЫЕ ИСТОЧНИКИ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8961120" y="2240280"/>
            <a:ext cx="26506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NASA GISTEMP v4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глобальные температурные аномалии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8961120" y="3017520"/>
            <a:ext cx="26506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NOAAGlobalTemp v6.1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поверхность суши и моря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8961120" y="3794760"/>
            <a:ext cx="26506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ERA5 (Copernicus)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реанализ с 1940 г.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8961120" y="4572000"/>
            <a:ext cx="26506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Copernicus CDS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климатический сервис ECMWF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8961120" y="5349240"/>
            <a:ext cx="26506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NASA Earth Observatory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спутниковая визуализация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1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6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Архитектуры нейронных сетей для климатических задач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1.3 — сопоставление моделей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8" name="Table 0"/>
          <p:cNvGraphicFramePr/>
          <p:nvPr/>
        </p:nvGraphicFramePr>
        <p:xfrm>
          <a:off x="640080" y="1554480"/>
          <a:ext cx="10908360" cy="416052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3383280"/>
                <a:gridCol w="3410640"/>
              </a:tblGrid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Архитектура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Тип данных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Преимущество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Ограничение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</a:tr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MLP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(перцептрон)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Табличные признаки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Простота и универсальность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Не учитывает временную структуру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65A82"/>
                          </a:solidFill>
                          <a:effectLst/>
                          <a:uFillTx/>
                          <a:latin typeface="Calibri"/>
                        </a:rPr>
                        <a:t>LSTM / GRU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8F0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Временные ряды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8F0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Память о прошлом, долгие зависимости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8F0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Требует длинных рядов и тщательной настройки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E8F0F7"/>
                    </a:solidFill>
                  </a:tcPr>
                </a:tc>
              </a:tr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CNN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Пространственные поля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Выделение пространственных признаков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Требует структурированных сеток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CNN-LSTM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7F0E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Пространство + время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7F0E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Учёт обеих структур одновременно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7F0E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Более высокая вычислительная стоимость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7F0E8"/>
                    </a:solidFill>
                  </a:tcPr>
                </a:tc>
              </a:tr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GNN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(графовые)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Глобальные сетки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Гибкость по топологии (GraphCast)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Сложность обучения и интерпретации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594360">
                <a:tc>
                  <a:txBody>
                    <a:bodyPr lIns="75960" tIns="75960" rIns="75960" bIns="759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Hybrid / PINN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0E8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Данные + физика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0E8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Физическая осмысленность результатов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0E8F7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A2332"/>
                          </a:solidFill>
                          <a:effectLst/>
                          <a:uFillTx/>
                          <a:latin typeface="Calibri"/>
                        </a:rPr>
                        <a:t>Знание уравнений и сложная настройка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6480">
                      <a:solidFill>
                        <a:srgbClr val="D5DCE3"/>
                      </a:solidFill>
                      <a:prstDash val="solid"/>
                    </a:lnL>
                    <a:lnR w="6480">
                      <a:solidFill>
                        <a:srgbClr val="D5DCE3"/>
                      </a:solidFill>
                      <a:prstDash val="solid"/>
                    </a:lnR>
                    <a:lnT w="6480">
                      <a:solidFill>
                        <a:srgbClr val="D5DCE3"/>
                      </a:solidFill>
                      <a:prstDash val="solid"/>
                    </a:lnT>
                    <a:lnB w="6480">
                      <a:solidFill>
                        <a:srgbClr val="D5DCE3"/>
                      </a:solidFill>
                      <a:prstDash val="solid"/>
                    </a:lnB>
                    <a:solidFill>
                      <a:srgbClr val="F0E8F7"/>
                    </a:solidFill>
                  </a:tcPr>
                </a:tc>
              </a:tr>
            </a:tbl>
          </a:graphicData>
        </a:graphic>
      </p:graphicFrame>
      <p:sp>
        <p:nvSpPr>
          <p:cNvPr id="149" name="Text 3"/>
          <p:cNvSpPr/>
          <p:nvPr/>
        </p:nvSpPr>
        <p:spPr>
          <a:xfrm>
            <a:off x="640080" y="5897880"/>
            <a:ext cx="10907640" cy="501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pc="201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ВЫВОД: </a:t>
            </a:r>
            <a:r>
              <a:rPr lang="en-US" sz="1200" b="0" i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для учебной курсовой работы рационально использовать </a:t>
            </a:r>
            <a:r>
              <a:rPr lang="en-US" sz="1200" b="1" i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LSTM или GRU</a:t>
            </a:r>
            <a:r>
              <a:rPr lang="en-US" sz="1200" b="0" i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при работе с временными рядами температуры либо </a:t>
            </a:r>
            <a:r>
              <a:rPr lang="en-US" sz="1200" b="1" i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CNN</a:t>
            </a:r>
            <a:r>
              <a:rPr lang="en-US" sz="1200" b="0" i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 при работе с картами реанализа.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7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Воспроизводимая схема подготовки данных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2.1 — практическая часть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>
            <a:off x="676800" y="1828800"/>
            <a:ext cx="1690560" cy="219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676800" y="1828800"/>
            <a:ext cx="1690560" cy="10872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5"/>
          <p:cNvSpPr/>
          <p:nvPr/>
        </p:nvSpPr>
        <p:spPr>
          <a:xfrm>
            <a:off x="1202400" y="2057400"/>
            <a:ext cx="639000" cy="6390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1202400" y="205740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7"/>
          <p:cNvSpPr/>
          <p:nvPr/>
        </p:nvSpPr>
        <p:spPr>
          <a:xfrm>
            <a:off x="768240" y="27889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Выбор источника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8"/>
          <p:cNvSpPr/>
          <p:nvPr/>
        </p:nvSpPr>
        <p:spPr>
          <a:xfrm>
            <a:off x="768240" y="3246120"/>
            <a:ext cx="150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GISTEMP, ERA5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или Copernicus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9"/>
          <p:cNvSpPr/>
          <p:nvPr/>
        </p:nvSpPr>
        <p:spPr>
          <a:xfrm>
            <a:off x="2368080" y="2926080"/>
            <a:ext cx="137160" cy="360"/>
          </a:xfrm>
          <a:prstGeom prst="line">
            <a:avLst/>
          </a:prstGeom>
          <a:ln w="31750">
            <a:solidFill>
              <a:srgbClr val="FF8C4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0"/>
          <p:cNvSpPr/>
          <p:nvPr/>
        </p:nvSpPr>
        <p:spPr>
          <a:xfrm>
            <a:off x="2505600" y="1828800"/>
            <a:ext cx="1690560" cy="219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1"/>
          <p:cNvSpPr/>
          <p:nvPr/>
        </p:nvSpPr>
        <p:spPr>
          <a:xfrm>
            <a:off x="2505600" y="1828800"/>
            <a:ext cx="1690560" cy="10872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2"/>
          <p:cNvSpPr/>
          <p:nvPr/>
        </p:nvSpPr>
        <p:spPr>
          <a:xfrm>
            <a:off x="3031200" y="2057400"/>
            <a:ext cx="639000" cy="6390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3"/>
          <p:cNvSpPr/>
          <p:nvPr/>
        </p:nvSpPr>
        <p:spPr>
          <a:xfrm>
            <a:off x="3031200" y="205740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4"/>
          <p:cNvSpPr/>
          <p:nvPr/>
        </p:nvSpPr>
        <p:spPr>
          <a:xfrm>
            <a:off x="2597040" y="27889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Загрузка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5"/>
          <p:cNvSpPr/>
          <p:nvPr/>
        </p:nvSpPr>
        <p:spPr>
          <a:xfrm>
            <a:off x="2597040" y="3246120"/>
            <a:ext cx="150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CSV, NetCDF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GRIB форматы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6"/>
          <p:cNvSpPr/>
          <p:nvPr/>
        </p:nvSpPr>
        <p:spPr>
          <a:xfrm>
            <a:off x="4196880" y="2926080"/>
            <a:ext cx="137160" cy="360"/>
          </a:xfrm>
          <a:prstGeom prst="line">
            <a:avLst/>
          </a:prstGeom>
          <a:ln w="31750">
            <a:solidFill>
              <a:srgbClr val="FF8C4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7"/>
          <p:cNvSpPr/>
          <p:nvPr/>
        </p:nvSpPr>
        <p:spPr>
          <a:xfrm>
            <a:off x="4334400" y="1828800"/>
            <a:ext cx="1690560" cy="219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8"/>
          <p:cNvSpPr/>
          <p:nvPr/>
        </p:nvSpPr>
        <p:spPr>
          <a:xfrm>
            <a:off x="4334400" y="1828800"/>
            <a:ext cx="1690560" cy="10872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9"/>
          <p:cNvSpPr/>
          <p:nvPr/>
        </p:nvSpPr>
        <p:spPr>
          <a:xfrm>
            <a:off x="4860000" y="2057400"/>
            <a:ext cx="639000" cy="6390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0"/>
          <p:cNvSpPr/>
          <p:nvPr/>
        </p:nvSpPr>
        <p:spPr>
          <a:xfrm>
            <a:off x="4860000" y="205740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1"/>
          <p:cNvSpPr/>
          <p:nvPr/>
        </p:nvSpPr>
        <p:spPr>
          <a:xfrm>
            <a:off x="4425840" y="27889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Контроль качества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2"/>
          <p:cNvSpPr/>
          <p:nvPr/>
        </p:nvSpPr>
        <p:spPr>
          <a:xfrm>
            <a:off x="4425840" y="3246120"/>
            <a:ext cx="150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Пропуски,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выбросы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3"/>
          <p:cNvSpPr/>
          <p:nvPr/>
        </p:nvSpPr>
        <p:spPr>
          <a:xfrm>
            <a:off x="6025680" y="2926080"/>
            <a:ext cx="137160" cy="360"/>
          </a:xfrm>
          <a:prstGeom prst="line">
            <a:avLst/>
          </a:prstGeom>
          <a:ln w="31750">
            <a:solidFill>
              <a:srgbClr val="FF8C4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4"/>
          <p:cNvSpPr/>
          <p:nvPr/>
        </p:nvSpPr>
        <p:spPr>
          <a:xfrm>
            <a:off x="6163200" y="1828800"/>
            <a:ext cx="1690560" cy="219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5"/>
          <p:cNvSpPr/>
          <p:nvPr/>
        </p:nvSpPr>
        <p:spPr>
          <a:xfrm>
            <a:off x="6163200" y="1828800"/>
            <a:ext cx="1690560" cy="10872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6"/>
          <p:cNvSpPr/>
          <p:nvPr/>
        </p:nvSpPr>
        <p:spPr>
          <a:xfrm>
            <a:off x="6688800" y="2057400"/>
            <a:ext cx="639000" cy="6390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7"/>
          <p:cNvSpPr/>
          <p:nvPr/>
        </p:nvSpPr>
        <p:spPr>
          <a:xfrm>
            <a:off x="6688800" y="205740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8"/>
          <p:cNvSpPr/>
          <p:nvPr/>
        </p:nvSpPr>
        <p:spPr>
          <a:xfrm>
            <a:off x="6254640" y="27889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Разделение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9"/>
          <p:cNvSpPr/>
          <p:nvPr/>
        </p:nvSpPr>
        <p:spPr>
          <a:xfrm>
            <a:off x="6254640" y="3246120"/>
            <a:ext cx="150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Обучение,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валидация, тест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0"/>
          <p:cNvSpPr/>
          <p:nvPr/>
        </p:nvSpPr>
        <p:spPr>
          <a:xfrm>
            <a:off x="7854480" y="2926080"/>
            <a:ext cx="137160" cy="360"/>
          </a:xfrm>
          <a:prstGeom prst="line">
            <a:avLst/>
          </a:prstGeom>
          <a:ln w="31750">
            <a:solidFill>
              <a:srgbClr val="FF8C4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1"/>
          <p:cNvSpPr/>
          <p:nvPr/>
        </p:nvSpPr>
        <p:spPr>
          <a:xfrm>
            <a:off x="7992000" y="1828800"/>
            <a:ext cx="1690560" cy="219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2"/>
          <p:cNvSpPr/>
          <p:nvPr/>
        </p:nvSpPr>
        <p:spPr>
          <a:xfrm>
            <a:off x="7992000" y="1828800"/>
            <a:ext cx="1690560" cy="10872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33"/>
          <p:cNvSpPr/>
          <p:nvPr/>
        </p:nvSpPr>
        <p:spPr>
          <a:xfrm>
            <a:off x="8517600" y="2057400"/>
            <a:ext cx="639000" cy="6390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4"/>
          <p:cNvSpPr/>
          <p:nvPr/>
        </p:nvSpPr>
        <p:spPr>
          <a:xfrm>
            <a:off x="8517600" y="205740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5"/>
          <p:cNvSpPr/>
          <p:nvPr/>
        </p:nvSpPr>
        <p:spPr>
          <a:xfrm>
            <a:off x="8083440" y="27889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Нормализация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6"/>
          <p:cNvSpPr/>
          <p:nvPr/>
        </p:nvSpPr>
        <p:spPr>
          <a:xfrm>
            <a:off x="8083440" y="3246120"/>
            <a:ext cx="150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По статистикам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обучающей части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37"/>
          <p:cNvSpPr/>
          <p:nvPr/>
        </p:nvSpPr>
        <p:spPr>
          <a:xfrm>
            <a:off x="9683280" y="2926080"/>
            <a:ext cx="137160" cy="360"/>
          </a:xfrm>
          <a:prstGeom prst="line">
            <a:avLst/>
          </a:prstGeom>
          <a:ln w="31750">
            <a:solidFill>
              <a:srgbClr val="FF8C4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8"/>
          <p:cNvSpPr/>
          <p:nvPr/>
        </p:nvSpPr>
        <p:spPr>
          <a:xfrm>
            <a:off x="9820800" y="1828800"/>
            <a:ext cx="1690560" cy="219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9"/>
          <p:cNvSpPr/>
          <p:nvPr/>
        </p:nvSpPr>
        <p:spPr>
          <a:xfrm>
            <a:off x="9820800" y="1828800"/>
            <a:ext cx="1690560" cy="10872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0"/>
          <p:cNvSpPr/>
          <p:nvPr/>
        </p:nvSpPr>
        <p:spPr>
          <a:xfrm>
            <a:off x="10346400" y="2057400"/>
            <a:ext cx="639000" cy="6390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1"/>
          <p:cNvSpPr/>
          <p:nvPr/>
        </p:nvSpPr>
        <p:spPr>
          <a:xfrm>
            <a:off x="10346400" y="205740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42"/>
          <p:cNvSpPr/>
          <p:nvPr/>
        </p:nvSpPr>
        <p:spPr>
          <a:xfrm>
            <a:off x="9912240" y="27889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Окна / признаки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3"/>
          <p:cNvSpPr/>
          <p:nvPr/>
        </p:nvSpPr>
        <p:spPr>
          <a:xfrm>
            <a:off x="9912240" y="3246120"/>
            <a:ext cx="150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Последовательности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заданной длины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4"/>
          <p:cNvSpPr/>
          <p:nvPr/>
        </p:nvSpPr>
        <p:spPr>
          <a:xfrm>
            <a:off x="640080" y="4663440"/>
            <a:ext cx="10907640" cy="169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5"/>
          <p:cNvSpPr/>
          <p:nvPr/>
        </p:nvSpPr>
        <p:spPr>
          <a:xfrm>
            <a:off x="640080" y="4663440"/>
            <a:ext cx="72000" cy="169056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46"/>
          <p:cNvSpPr/>
          <p:nvPr/>
        </p:nvSpPr>
        <p:spPr>
          <a:xfrm>
            <a:off x="914400" y="475488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КРИТИЧЕСКИЕ ПРИНЦИПЫ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47"/>
          <p:cNvSpPr/>
          <p:nvPr/>
        </p:nvSpPr>
        <p:spPr>
          <a:xfrm>
            <a:off x="914400" y="5074920"/>
            <a:ext cx="521100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65A82"/>
              </a:buClr>
              <a:buFont typeface="Symbol" charset="2"/>
              <a:buChar char=""/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Разделение строго по времени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— нельзя случайно перемешивать ряд, иначе модель «подсматривает» в будущее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8"/>
          <p:cNvSpPr/>
          <p:nvPr/>
        </p:nvSpPr>
        <p:spPr>
          <a:xfrm>
            <a:off x="6217920" y="5074920"/>
            <a:ext cx="521100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65A82"/>
              </a:buClr>
              <a:buFont typeface="Symbol" charset="2"/>
              <a:buChar char=""/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Нормализация — только по обучающей части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— параметры запоминаются и применяются к валидации и тесту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9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50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51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8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Учебная LSTM-модель для прогнозирования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2.2 — выбор архитектуры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3"/>
          <p:cNvSpPr/>
          <p:nvPr/>
        </p:nvSpPr>
        <p:spPr>
          <a:xfrm>
            <a:off x="640080" y="1554480"/>
            <a:ext cx="5668200" cy="475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822960" y="1691640"/>
            <a:ext cx="5302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201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Структура модели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914400" y="2103120"/>
            <a:ext cx="5119560" cy="63900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097280" y="2103120"/>
            <a:ext cx="319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Входной слой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4297680" y="2103120"/>
            <a:ext cx="1644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последовательность длиной T признаков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8"/>
          <p:cNvSpPr/>
          <p:nvPr/>
        </p:nvSpPr>
        <p:spPr>
          <a:xfrm>
            <a:off x="3474720" y="2761200"/>
            <a:ext cx="360" cy="55080"/>
          </a:xfrm>
          <a:prstGeom prst="line">
            <a:avLst/>
          </a:prstGeom>
          <a:ln w="25400">
            <a:solidFill>
              <a:srgbClr val="5A68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10080" rIns="0" bIns="100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9"/>
          <p:cNvSpPr/>
          <p:nvPr/>
        </p:nvSpPr>
        <p:spPr>
          <a:xfrm>
            <a:off x="914400" y="2834640"/>
            <a:ext cx="511956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0"/>
          <p:cNvSpPr/>
          <p:nvPr/>
        </p:nvSpPr>
        <p:spPr>
          <a:xfrm>
            <a:off x="1097280" y="2834640"/>
            <a:ext cx="319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LSTM-слой (64–128 ячеек)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1"/>
          <p:cNvSpPr/>
          <p:nvPr/>
        </p:nvSpPr>
        <p:spPr>
          <a:xfrm>
            <a:off x="4297680" y="2834640"/>
            <a:ext cx="1644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захват временных зависимостей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2"/>
          <p:cNvSpPr/>
          <p:nvPr/>
        </p:nvSpPr>
        <p:spPr>
          <a:xfrm>
            <a:off x="3474720" y="3492720"/>
            <a:ext cx="360" cy="55080"/>
          </a:xfrm>
          <a:prstGeom prst="line">
            <a:avLst/>
          </a:prstGeom>
          <a:ln w="25400">
            <a:solidFill>
              <a:srgbClr val="5A68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10080" rIns="0" bIns="100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3"/>
          <p:cNvSpPr/>
          <p:nvPr/>
        </p:nvSpPr>
        <p:spPr>
          <a:xfrm>
            <a:off x="914400" y="3566160"/>
            <a:ext cx="5119560" cy="639000"/>
          </a:xfrm>
          <a:prstGeom prst="rect">
            <a:avLst/>
          </a:prstGeom>
          <a:solidFill>
            <a:srgbClr val="7A8F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4"/>
          <p:cNvSpPr/>
          <p:nvPr/>
        </p:nvSpPr>
        <p:spPr>
          <a:xfrm>
            <a:off x="1097280" y="3566160"/>
            <a:ext cx="319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Dropout (0.2)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5"/>
          <p:cNvSpPr/>
          <p:nvPr/>
        </p:nvSpPr>
        <p:spPr>
          <a:xfrm>
            <a:off x="4297680" y="3566160"/>
            <a:ext cx="1644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регуляризация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6"/>
          <p:cNvSpPr/>
          <p:nvPr/>
        </p:nvSpPr>
        <p:spPr>
          <a:xfrm>
            <a:off x="3474720" y="4224240"/>
            <a:ext cx="360" cy="55080"/>
          </a:xfrm>
          <a:prstGeom prst="line">
            <a:avLst/>
          </a:prstGeom>
          <a:ln w="25400">
            <a:solidFill>
              <a:srgbClr val="5A68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10080" rIns="0" bIns="100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7"/>
          <p:cNvSpPr/>
          <p:nvPr/>
        </p:nvSpPr>
        <p:spPr>
          <a:xfrm>
            <a:off x="914400" y="4297680"/>
            <a:ext cx="511956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8"/>
          <p:cNvSpPr/>
          <p:nvPr/>
        </p:nvSpPr>
        <p:spPr>
          <a:xfrm>
            <a:off x="1097280" y="4297680"/>
            <a:ext cx="319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Полносвязный слой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4297680" y="4297680"/>
            <a:ext cx="1644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функция активации ReLU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0"/>
          <p:cNvSpPr/>
          <p:nvPr/>
        </p:nvSpPr>
        <p:spPr>
          <a:xfrm>
            <a:off x="3474720" y="4955760"/>
            <a:ext cx="360" cy="55080"/>
          </a:xfrm>
          <a:prstGeom prst="line">
            <a:avLst/>
          </a:prstGeom>
          <a:ln w="25400">
            <a:solidFill>
              <a:srgbClr val="5A68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10080" rIns="0" bIns="100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1"/>
          <p:cNvSpPr/>
          <p:nvPr/>
        </p:nvSpPr>
        <p:spPr>
          <a:xfrm>
            <a:off x="914400" y="5029200"/>
            <a:ext cx="5119560" cy="63900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2"/>
          <p:cNvSpPr/>
          <p:nvPr/>
        </p:nvSpPr>
        <p:spPr>
          <a:xfrm>
            <a:off x="1097280" y="5029200"/>
            <a:ext cx="319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Выходной слой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3"/>
          <p:cNvSpPr/>
          <p:nvPr/>
        </p:nvSpPr>
        <p:spPr>
          <a:xfrm>
            <a:off x="4297680" y="5029200"/>
            <a:ext cx="1644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прогноз температуры на k шагов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4"/>
          <p:cNvSpPr/>
          <p:nvPr/>
        </p:nvSpPr>
        <p:spPr>
          <a:xfrm>
            <a:off x="6675120" y="15544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Параметры обучения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5"/>
          <p:cNvSpPr/>
          <p:nvPr/>
        </p:nvSpPr>
        <p:spPr>
          <a:xfrm>
            <a:off x="6675120" y="2057400"/>
            <a:ext cx="5028120" cy="50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6"/>
          <p:cNvSpPr/>
          <p:nvPr/>
        </p:nvSpPr>
        <p:spPr>
          <a:xfrm>
            <a:off x="6812280" y="205740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Длина окна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7"/>
          <p:cNvSpPr/>
          <p:nvPr/>
        </p:nvSpPr>
        <p:spPr>
          <a:xfrm>
            <a:off x="8823960" y="20574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12–36 месяцев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8"/>
          <p:cNvSpPr/>
          <p:nvPr/>
        </p:nvSpPr>
        <p:spPr>
          <a:xfrm>
            <a:off x="6675120" y="2560320"/>
            <a:ext cx="5028120" cy="501840"/>
          </a:xfrm>
          <a:prstGeom prst="rect">
            <a:avLst/>
          </a:prstGeom>
          <a:solidFill>
            <a:srgbClr val="EEF2F7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9"/>
          <p:cNvSpPr/>
          <p:nvPr/>
        </p:nvSpPr>
        <p:spPr>
          <a:xfrm>
            <a:off x="6812280" y="256032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Оптимизатор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0"/>
          <p:cNvSpPr/>
          <p:nvPr/>
        </p:nvSpPr>
        <p:spPr>
          <a:xfrm>
            <a:off x="8823960" y="25603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Adam (lr = 1e-3)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1"/>
          <p:cNvSpPr/>
          <p:nvPr/>
        </p:nvSpPr>
        <p:spPr>
          <a:xfrm>
            <a:off x="6675120" y="3063240"/>
            <a:ext cx="5028120" cy="50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2"/>
          <p:cNvSpPr/>
          <p:nvPr/>
        </p:nvSpPr>
        <p:spPr>
          <a:xfrm>
            <a:off x="6812280" y="306324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Функция потерь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3"/>
          <p:cNvSpPr/>
          <p:nvPr/>
        </p:nvSpPr>
        <p:spPr>
          <a:xfrm>
            <a:off x="8823960" y="30632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MSE (среднеквадратичная)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34"/>
          <p:cNvSpPr/>
          <p:nvPr/>
        </p:nvSpPr>
        <p:spPr>
          <a:xfrm>
            <a:off x="6675120" y="3566160"/>
            <a:ext cx="5028120" cy="501840"/>
          </a:xfrm>
          <a:prstGeom prst="rect">
            <a:avLst/>
          </a:prstGeom>
          <a:solidFill>
            <a:srgbClr val="EEF2F7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5"/>
          <p:cNvSpPr/>
          <p:nvPr/>
        </p:nvSpPr>
        <p:spPr>
          <a:xfrm>
            <a:off x="6812280" y="356616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Размер батча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6"/>
          <p:cNvSpPr/>
          <p:nvPr/>
        </p:nvSpPr>
        <p:spPr>
          <a:xfrm>
            <a:off x="8823960" y="35661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32–128 примеров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37"/>
          <p:cNvSpPr/>
          <p:nvPr/>
        </p:nvSpPr>
        <p:spPr>
          <a:xfrm>
            <a:off x="6675120" y="4069080"/>
            <a:ext cx="5028120" cy="50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8"/>
          <p:cNvSpPr/>
          <p:nvPr/>
        </p:nvSpPr>
        <p:spPr>
          <a:xfrm>
            <a:off x="6812280" y="406908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Число эпох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9"/>
          <p:cNvSpPr/>
          <p:nvPr/>
        </p:nvSpPr>
        <p:spPr>
          <a:xfrm>
            <a:off x="8823960" y="406908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30–100, ранняя остановка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0"/>
          <p:cNvSpPr/>
          <p:nvPr/>
        </p:nvSpPr>
        <p:spPr>
          <a:xfrm>
            <a:off x="6675120" y="4572000"/>
            <a:ext cx="5028120" cy="501840"/>
          </a:xfrm>
          <a:prstGeom prst="rect">
            <a:avLst/>
          </a:prstGeom>
          <a:solidFill>
            <a:srgbClr val="EEF2F7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1"/>
          <p:cNvSpPr/>
          <p:nvPr/>
        </p:nvSpPr>
        <p:spPr>
          <a:xfrm>
            <a:off x="6812280" y="457200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Регуляризация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42"/>
          <p:cNvSpPr/>
          <p:nvPr/>
        </p:nvSpPr>
        <p:spPr>
          <a:xfrm>
            <a:off x="8823960" y="45720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Dropout, weight decay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3"/>
          <p:cNvSpPr/>
          <p:nvPr/>
        </p:nvSpPr>
        <p:spPr>
          <a:xfrm>
            <a:off x="6675120" y="5074920"/>
            <a:ext cx="5028120" cy="50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4"/>
          <p:cNvSpPr/>
          <p:nvPr/>
        </p:nvSpPr>
        <p:spPr>
          <a:xfrm>
            <a:off x="6812280" y="507492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Валидация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5"/>
          <p:cNvSpPr/>
          <p:nvPr/>
        </p:nvSpPr>
        <p:spPr>
          <a:xfrm>
            <a:off x="8823960" y="50749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Скользящее окно по времени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6"/>
          <p:cNvSpPr/>
          <p:nvPr/>
        </p:nvSpPr>
        <p:spPr>
          <a:xfrm>
            <a:off x="6675120" y="5669280"/>
            <a:ext cx="5028120" cy="63900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7"/>
          <p:cNvSpPr/>
          <p:nvPr/>
        </p:nvSpPr>
        <p:spPr>
          <a:xfrm>
            <a:off x="6812280" y="5669280"/>
            <a:ext cx="47538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Сравнение с базовыми моделями обязательно: наивный прогноз, линейная регрессия, ARIMA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8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49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50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9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Оценка качества прогнозирования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2.3 — метрики и их интерпретация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640080" y="1554480"/>
            <a:ext cx="3513240" cy="3382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4"/>
          <p:cNvSpPr/>
          <p:nvPr/>
        </p:nvSpPr>
        <p:spPr>
          <a:xfrm>
            <a:off x="640080" y="1554480"/>
            <a:ext cx="3513240" cy="82188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640080" y="1600200"/>
            <a:ext cx="351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640080" y="2011680"/>
            <a:ext cx="3513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Mean Absolute Error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7"/>
          <p:cNvSpPr/>
          <p:nvPr/>
        </p:nvSpPr>
        <p:spPr>
          <a:xfrm>
            <a:off x="822960" y="2606040"/>
            <a:ext cx="3147480" cy="639000"/>
          </a:xfrm>
          <a:prstGeom prst="rect">
            <a:avLst/>
          </a:prstGeom>
          <a:solidFill>
            <a:srgbClr val="F4F7FA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8"/>
          <p:cNvSpPr/>
          <p:nvPr/>
        </p:nvSpPr>
        <p:spPr>
          <a:xfrm>
            <a:off x="822960" y="2606040"/>
            <a:ext cx="3147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MAE = (1/n) · Σ|yᵢ – ŷᵢ|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383280"/>
            <a:ext cx="3147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Среднее модульное отклонение прогноза от факта.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822960" y="4297680"/>
            <a:ext cx="31474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Интуитивная интерпретация в единицах данных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4337280" y="1554480"/>
            <a:ext cx="3513240" cy="3382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2"/>
          <p:cNvSpPr/>
          <p:nvPr/>
        </p:nvSpPr>
        <p:spPr>
          <a:xfrm>
            <a:off x="4337280" y="1554480"/>
            <a:ext cx="3513240" cy="82188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4337280" y="1600200"/>
            <a:ext cx="351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RMSE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4337280" y="2011680"/>
            <a:ext cx="3513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Root Mean Square Error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5"/>
          <p:cNvSpPr/>
          <p:nvPr/>
        </p:nvSpPr>
        <p:spPr>
          <a:xfrm>
            <a:off x="4520160" y="2606040"/>
            <a:ext cx="3147480" cy="639000"/>
          </a:xfrm>
          <a:prstGeom prst="rect">
            <a:avLst/>
          </a:prstGeom>
          <a:solidFill>
            <a:srgbClr val="F4F7FA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4520160" y="2606040"/>
            <a:ext cx="3147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RMSE = √((1/n) · Σ(yᵢ – ŷᵢ)²)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7"/>
          <p:cNvSpPr/>
          <p:nvPr/>
        </p:nvSpPr>
        <p:spPr>
          <a:xfrm>
            <a:off x="4520160" y="3383280"/>
            <a:ext cx="3147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Корень из среднеквадратичной ошибки.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4520160" y="4297680"/>
            <a:ext cx="31474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Сильнее штрафует крупные ошибки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8034480" y="1554480"/>
            <a:ext cx="3513240" cy="3382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0"/>
          <p:cNvSpPr/>
          <p:nvPr/>
        </p:nvSpPr>
        <p:spPr>
          <a:xfrm>
            <a:off x="8034480" y="1554480"/>
            <a:ext cx="3513240" cy="821880"/>
          </a:xfrm>
          <a:prstGeom prst="rect">
            <a:avLst/>
          </a:prstGeom>
          <a:solidFill>
            <a:srgbClr val="FF8C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8034480" y="1600200"/>
            <a:ext cx="351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2"/>
          <p:cNvSpPr/>
          <p:nvPr/>
        </p:nvSpPr>
        <p:spPr>
          <a:xfrm>
            <a:off x="8034480" y="2011680"/>
            <a:ext cx="3513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Coefficient of Determination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3"/>
          <p:cNvSpPr/>
          <p:nvPr/>
        </p:nvSpPr>
        <p:spPr>
          <a:xfrm>
            <a:off x="8217360" y="2606040"/>
            <a:ext cx="3147480" cy="639000"/>
          </a:xfrm>
          <a:prstGeom prst="rect">
            <a:avLst/>
          </a:prstGeom>
          <a:solidFill>
            <a:srgbClr val="F4F7FA"/>
          </a:solidFill>
          <a:ln w="6350">
            <a:solidFill>
              <a:srgbClr val="D5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4"/>
          <p:cNvSpPr/>
          <p:nvPr/>
        </p:nvSpPr>
        <p:spPr>
          <a:xfrm>
            <a:off x="8217360" y="2606040"/>
            <a:ext cx="3147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A2332"/>
                </a:solidFill>
                <a:effectLst/>
                <a:uFillTx/>
                <a:latin typeface="Cambria"/>
                <a:ea typeface="Cambria"/>
              </a:rPr>
              <a:t>R² = 1 – Σ(yᵢ – ŷᵢ)² / Σ(yᵢ – ȳ)²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5"/>
          <p:cNvSpPr/>
          <p:nvPr/>
        </p:nvSpPr>
        <p:spPr>
          <a:xfrm>
            <a:off x="8217360" y="3383280"/>
            <a:ext cx="3147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Доля объяснённой моделью изменчивости.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6"/>
          <p:cNvSpPr/>
          <p:nvPr/>
        </p:nvSpPr>
        <p:spPr>
          <a:xfrm>
            <a:off x="8217360" y="4297680"/>
            <a:ext cx="31474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Осторожно при нестационарных рядах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7"/>
          <p:cNvSpPr/>
          <p:nvPr/>
        </p:nvSpPr>
        <p:spPr>
          <a:xfrm>
            <a:off x="640080" y="5212080"/>
            <a:ext cx="10907640" cy="114192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8"/>
          <p:cNvSpPr/>
          <p:nvPr/>
        </p:nvSpPr>
        <p:spPr>
          <a:xfrm>
            <a:off x="868680" y="5349240"/>
            <a:ext cx="1370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ВАЖНО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9"/>
          <p:cNvSpPr/>
          <p:nvPr/>
        </p:nvSpPr>
        <p:spPr>
          <a:xfrm>
            <a:off x="868680" y="5623560"/>
            <a:ext cx="104504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Метрики рассчитываются ТОЛЬКО на тестовой выборке,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которая не участвовала в обучении и подборе гиперпараметров. Сравнение с базовыми моделями (наивный прогноз, линейная регрессия) обязательно — без него нельзя оценить, даёт ли LSTM реальное преимущество.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0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1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2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10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457200" y="411480"/>
            <a:ext cx="72000" cy="6390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85800" y="365760"/>
            <a:ext cx="108162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Ограничения и перспективы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"/>
          <p:cNvSpPr/>
          <p:nvPr/>
        </p:nvSpPr>
        <p:spPr>
          <a:xfrm>
            <a:off x="685800" y="960120"/>
            <a:ext cx="10816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Раздел 2.4 — критический анализ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640080" y="1554480"/>
            <a:ext cx="5485320" cy="475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4"/>
          <p:cNvSpPr/>
          <p:nvPr/>
        </p:nvSpPr>
        <p:spPr>
          <a:xfrm>
            <a:off x="640080" y="1554480"/>
            <a:ext cx="5485320" cy="593280"/>
          </a:xfrm>
          <a:prstGeom prst="rect">
            <a:avLst/>
          </a:prstGeom>
          <a:solidFill>
            <a:srgbClr val="B850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5"/>
          <p:cNvSpPr/>
          <p:nvPr/>
        </p:nvSpPr>
        <p:spPr>
          <a:xfrm>
            <a:off x="640080" y="1554480"/>
            <a:ext cx="54853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ОГРАНИЧЕНИЯ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"/>
          <p:cNvSpPr/>
          <p:nvPr/>
        </p:nvSpPr>
        <p:spPr>
          <a:xfrm>
            <a:off x="868680" y="2331720"/>
            <a:ext cx="5119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▸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Зависимость от качества данных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пропуски и смещения переходят в прогноз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7"/>
          <p:cNvSpPr/>
          <p:nvPr/>
        </p:nvSpPr>
        <p:spPr>
          <a:xfrm>
            <a:off x="868680" y="3108960"/>
            <a:ext cx="5119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▸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Чёрный ящик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трудность интерпретации внутренних правил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8"/>
          <p:cNvSpPr/>
          <p:nvPr/>
        </p:nvSpPr>
        <p:spPr>
          <a:xfrm>
            <a:off x="868680" y="3886200"/>
            <a:ext cx="5119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▸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Погода ≠ климат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разные временные горизонты процессов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9"/>
          <p:cNvSpPr/>
          <p:nvPr/>
        </p:nvSpPr>
        <p:spPr>
          <a:xfrm>
            <a:off x="868680" y="4663440"/>
            <a:ext cx="5119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▸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Ограничение на экстраполяцию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слабая работа за пределами обучающих условий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0"/>
          <p:cNvSpPr/>
          <p:nvPr/>
        </p:nvSpPr>
        <p:spPr>
          <a:xfrm>
            <a:off x="868680" y="5440680"/>
            <a:ext cx="5119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▸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Вычислительные ресурсы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необходимость GPU и больших объёмов памяти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1"/>
          <p:cNvSpPr/>
          <p:nvPr/>
        </p:nvSpPr>
        <p:spPr>
          <a:xfrm>
            <a:off x="6309360" y="1554480"/>
            <a:ext cx="5238360" cy="475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2"/>
          <p:cNvSpPr/>
          <p:nvPr/>
        </p:nvSpPr>
        <p:spPr>
          <a:xfrm>
            <a:off x="6309360" y="1554480"/>
            <a:ext cx="5238360" cy="593280"/>
          </a:xfrm>
          <a:prstGeom prst="rect">
            <a:avLst/>
          </a:prstGeom>
          <a:solidFill>
            <a:srgbClr val="2C5F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6309360" y="1554480"/>
            <a:ext cx="52383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ПЕРСПЕКТИВЫ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4"/>
          <p:cNvSpPr/>
          <p:nvPr/>
        </p:nvSpPr>
        <p:spPr>
          <a:xfrm>
            <a:off x="6537960" y="2331720"/>
            <a:ext cx="5009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Гибридные модели (PINN)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интеграция нейронных сетей и физических уравнений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5"/>
          <p:cNvSpPr/>
          <p:nvPr/>
        </p:nvSpPr>
        <p:spPr>
          <a:xfrm>
            <a:off x="6537960" y="3108960"/>
            <a:ext cx="5009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Объяснимый ИИ (XAI)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методы интерпретации нейросетевых прогнозов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6"/>
          <p:cNvSpPr/>
          <p:nvPr/>
        </p:nvSpPr>
        <p:spPr>
          <a:xfrm>
            <a:off x="6537960" y="3886200"/>
            <a:ext cx="5009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Графовые нейронные сети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пример — GraphCast от DeepMind (2023)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7"/>
          <p:cNvSpPr/>
          <p:nvPr/>
        </p:nvSpPr>
        <p:spPr>
          <a:xfrm>
            <a:off x="6537960" y="4663440"/>
            <a:ext cx="5009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Ансамблевые подходы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оценка неопределённости прогноза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6537960" y="5440680"/>
            <a:ext cx="5009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lang="en-US" sz="1300" b="1" u="none" strike="noStrike">
                <a:solidFill>
                  <a:srgbClr val="1A2332"/>
                </a:solidFill>
                <a:effectLst/>
                <a:uFillTx/>
                <a:latin typeface="Calibri"/>
                <a:ea typeface="Calibri"/>
              </a:rPr>
              <a:t>Связь с социально-экономическими задачами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6878"/>
                </a:solidFill>
                <a:effectLst/>
                <a:uFillTx/>
                <a:latin typeface="Calibri"/>
                <a:ea typeface="Calibri"/>
              </a:rPr>
              <a:t>      энергетика, сельское хозяйство, ЧС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9"/>
          <p:cNvSpPr/>
          <p:nvPr/>
        </p:nvSpPr>
        <p:spPr>
          <a:xfrm>
            <a:off x="0" y="6537960"/>
            <a:ext cx="12187800" cy="31896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20"/>
          <p:cNvSpPr/>
          <p:nvPr/>
        </p:nvSpPr>
        <p:spPr>
          <a:xfrm>
            <a:off x="365760" y="65653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гр. 12-25 РПмз · ХГПУ ·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1"/>
          <p:cNvSpPr/>
          <p:nvPr/>
        </p:nvSpPr>
        <p:spPr>
          <a:xfrm>
            <a:off x="10908720" y="65653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11 /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4114800" y="914400"/>
            <a:ext cx="3931920" cy="360"/>
          </a:xfrm>
          <a:prstGeom prst="line">
            <a:avLst/>
          </a:prstGeom>
          <a:ln w="25400">
            <a:solidFill>
              <a:srgbClr val="FF8C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457200" y="1097280"/>
            <a:ext cx="11273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99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ОСНОВНЫЕ ВЫВОДЫ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"/>
          <p:cNvSpPr/>
          <p:nvPr/>
        </p:nvSpPr>
        <p:spPr>
          <a:xfrm>
            <a:off x="640080" y="1828800"/>
            <a:ext cx="3452400" cy="2559240"/>
          </a:xfrm>
          <a:prstGeom prst="rect">
            <a:avLst/>
          </a:prstGeom>
          <a:solidFill>
            <a:srgbClr val="21295C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3"/>
          <p:cNvSpPr/>
          <p:nvPr/>
        </p:nvSpPr>
        <p:spPr>
          <a:xfrm>
            <a:off x="822960" y="1965960"/>
            <a:ext cx="30866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4"/>
          <p:cNvSpPr/>
          <p:nvPr/>
        </p:nvSpPr>
        <p:spPr>
          <a:xfrm>
            <a:off x="822960" y="2514600"/>
            <a:ext cx="30866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Систематизированы теоретические основы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5"/>
          <p:cNvSpPr/>
          <p:nvPr/>
        </p:nvSpPr>
        <p:spPr>
          <a:xfrm>
            <a:off x="822960" y="3200400"/>
            <a:ext cx="30866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Нейрокомпьютерные системы дополняют классические физические модели, эффективно работая с большими разнородными массивами климатических данных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6"/>
          <p:cNvSpPr/>
          <p:nvPr/>
        </p:nvSpPr>
        <p:spPr>
          <a:xfrm>
            <a:off x="4367880" y="1828800"/>
            <a:ext cx="3452400" cy="2559240"/>
          </a:xfrm>
          <a:prstGeom prst="rect">
            <a:avLst/>
          </a:prstGeom>
          <a:solidFill>
            <a:srgbClr val="21295C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7"/>
          <p:cNvSpPr/>
          <p:nvPr/>
        </p:nvSpPr>
        <p:spPr>
          <a:xfrm>
            <a:off x="4550760" y="1965960"/>
            <a:ext cx="30866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8"/>
          <p:cNvSpPr/>
          <p:nvPr/>
        </p:nvSpPr>
        <p:spPr>
          <a:xfrm>
            <a:off x="4550760" y="2514600"/>
            <a:ext cx="30866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Описана воспроизводимая методика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9"/>
          <p:cNvSpPr/>
          <p:nvPr/>
        </p:nvSpPr>
        <p:spPr>
          <a:xfrm>
            <a:off x="4550760" y="3200400"/>
            <a:ext cx="30866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Предложена пошаговая схема применения нейросетевых моделей к открытым климатическим данным без использования вымышленных числовых результатов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"/>
          <p:cNvSpPr/>
          <p:nvPr/>
        </p:nvSpPr>
        <p:spPr>
          <a:xfrm>
            <a:off x="8095320" y="1828800"/>
            <a:ext cx="3452400" cy="2559240"/>
          </a:xfrm>
          <a:prstGeom prst="rect">
            <a:avLst/>
          </a:prstGeom>
          <a:solidFill>
            <a:srgbClr val="21295C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1"/>
          <p:cNvSpPr/>
          <p:nvPr/>
        </p:nvSpPr>
        <p:spPr>
          <a:xfrm>
            <a:off x="8278200" y="1965960"/>
            <a:ext cx="30866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2"/>
          <p:cNvSpPr/>
          <p:nvPr/>
        </p:nvSpPr>
        <p:spPr>
          <a:xfrm>
            <a:off x="8278200" y="2514600"/>
            <a:ext cx="30866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Обоснован выбор архитектуры и метрик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"/>
          <p:cNvSpPr/>
          <p:nvPr/>
        </p:nvSpPr>
        <p:spPr>
          <a:xfrm>
            <a:off x="8278200" y="3200400"/>
            <a:ext cx="30866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Для климатических временных рядов рациональны LSTM/GRU и гибридные CNN-LSTM подходы; качество оценивается по MAE, RMSE и R² на тестовой выборке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4"/>
          <p:cNvSpPr/>
          <p:nvPr/>
        </p:nvSpPr>
        <p:spPr>
          <a:xfrm>
            <a:off x="457200" y="4937760"/>
            <a:ext cx="1127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СПАСИБО ЗА ВНИМАНИЕ!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5"/>
          <p:cNvSpPr/>
          <p:nvPr/>
        </p:nvSpPr>
        <p:spPr>
          <a:xfrm>
            <a:off x="457200" y="5623560"/>
            <a:ext cx="1127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F8C42"/>
                </a:solidFill>
                <a:effectLst/>
                <a:uFillTx/>
                <a:latin typeface="Calibri"/>
                <a:ea typeface="Calibri"/>
              </a:rPr>
              <a:t>Готов ответить на вопросы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6"/>
          <p:cNvSpPr/>
          <p:nvPr/>
        </p:nvSpPr>
        <p:spPr>
          <a:xfrm>
            <a:off x="0" y="6400800"/>
            <a:ext cx="12187800" cy="45612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7"/>
          <p:cNvSpPr/>
          <p:nvPr/>
        </p:nvSpPr>
        <p:spPr>
          <a:xfrm>
            <a:off x="0" y="6400800"/>
            <a:ext cx="1218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8C5D6"/>
                </a:solidFill>
                <a:effectLst/>
                <a:uFillTx/>
                <a:latin typeface="Calibri"/>
                <a:ea typeface="Calibri"/>
              </a:rPr>
              <a:t>Деменков И.М. · группа 12-25 РПмз · научный руководитель: проф. Круглый Д.Г. · ХГПУ · 2026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LibreOffice/26.2.3.2$MacOSX_X86_64 LibreOffice_project/70e089b17412e4cb7773e41413306b17a2328c34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2026-05-24T12:06:55Z</dcterms:created>
  <dc:creator>Деменков И.М.</dc:creator>
  <dc:description/>
  <dc:language>en-US</dc:language>
  <cp:lastModifiedBy/>
  <dcterms:modified xsi:type="dcterms:W3CDTF">2026-06-17T15:37:28Z</dcterms:modified>
  <cp:revision>5</cp:revision>
  <dc:subject>PptxGenJS Presentation</dc:subject>
  <dc:title>Нейрокомпьютерные системы для предсказания климатических изменений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