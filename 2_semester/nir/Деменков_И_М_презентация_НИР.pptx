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FB7D069-51C1-42F0-A8C5-C865D0CD175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Здравствуйте! Меня зовут Деменков Иван, группа 12-25 РПмз. Тема моей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научно-исследовательской работы — «Методы оптимизации хранения и обработки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данных при синхронизации разнородных источников с аналитическим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хранилищем». Научный руководитель — доктор технических наук, профессор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Гришин Игорь Юрьевич.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Это теоретико-аналитический этап исследования. Если коротко, работа о том,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как эффективно и без потерь переносить данные из разных источников в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единое аналитическое хранилище и оптимизировать их хранение и обработку.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335F63A-7AB2-4BAE-BBF0-4B224964CB5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Почему эта тема актуальна. Объёмы данных постоянно растут, 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аналитика всё сильнее влияет на принятие решений. Из-за этого повышаются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требования к тому, как наполняются облачные аналитические хранилища — это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вопросы стоимости и скорости обработки запросов, согласованности 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непрерывной доступности данных.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 этом данные приходят из разнородных источников — и реляционных, 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документоориентированных баз данных, — а собрать их нужно в одном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хранилище. Это нетривиальная задача: существующие подходы к инкрементальной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синхронизации не всегда обеспечивают одновременно непрерывную доступность,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полноту данных и приемлемую стоимость обработки. Именно эта незакрытость 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определяет тему работы.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E92D633-3BD2-4C43-BFD2-E297E9AEC8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Цель работы на этом этапе — провести аналитический обзор подходов к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синхронизации, обосновать выбор подхода к оптимизации и разработать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концептуальную и логическую модели оптимизированной синхронизации.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4AC9145-9C4C-45AB-9993-7798442EAB3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Я выделил три взаимосвязанные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проблемы.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Первая — окно недоступности. В распространённой схеме «удаление и вставка»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(DELETE + INSERT) сначала удаляется часть данных за последние часы, а потом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загружается свежая порция. В промежутке этих данных в таблице физически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нет, и аналитические запросы возвращают неполный результат.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Вторая — пропуск строк. Когда изменения отслеживаются по возрастающему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идентификатору, транзакция с большим ID может зафиксироваться раньше, чем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транзакция с меньшим. В результате курсор, который опирается на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максимальный ID, «перешагивает» ещё не зафиксированную строку, и она не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попадает в хранилище.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Третья — согласованность чтений: неполные промежуточные состояния таблицы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нарушают согласованность аналитических выборок.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Эти три проблемы и определяют, каким должен быть предлагаемый подход.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6E21A59-72E6-4DBC-A6B4-F2AB4066B13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Предлагаемый подход. состоит из четырёх шагов.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Сначала целевая таблица клонируется во временную — клон сохраняет её схему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 разбиение. Затем из источника читается «хвост» данных с перекрытием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примерно за последние два часа. Прочитанный инкремент загружается во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временную таблицу. И только потом обновляется целевая таблица.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Обновление выполняется двумя способами. В штатном режиме — это атомарная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замена «хвоста»: всё происходит одной транзакцией, поэтому пользователи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никогда не видят промежуточного неполного состояния. А для повторной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синхронизации, когда нужно скорректировать или добрать данные, применяется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слияние по ключу без удаления строк.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Что это даёт. Во-первых, нет окна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недоступности — данные обновляются крупными блоками, без перезаписи на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месте. Во-вторых, нет пропуска строк — за счёт перекрытия трейлингового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окна «опоздавшие» по порядку фиксации строки всё равно попадают в хранилище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 следующем цикле.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5A4A9D7-43B0-4DAE-8C5F-C48C2D53128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Помимо самого процесса синхронизации, оптимизируется и хранение. Целевые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таблицы разбиваются по дню — по дате создания записи — и кластеризуются по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домену клиента. Это ограничивает объём данных, который сканируется при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обновлении и при аналитических запросах, и снижает их стоимость.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Отдельно отмечу решение по доступу клиентов. Доступ можно организовать двумя способами. При первом данные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копируются в отдельный датасет каждого клиента — тогда хранится n + 1 копий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одних и тех же данных, и при сбоях хранилища копии могут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рассинхронизироваться.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 предлагаемом подходе данные загружаются только в общий датасет, а каждый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клиент обращается к своим данным через материализованное представление в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своём датасете. В итоге хранится одна копия данных, загрузка быстрее, 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данные у всех клиентов согласованы.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83AF863-026D-4D80-8887-78A60969B4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Подход формализован двумя моделями.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Концептуальная модель — это UML-диаграмма деятельности, которая описывает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цикл синхронизации: клонирование, чтение с перекрытием, загрузку,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обновление целевой таблицы и фиксацию границы синхронизации.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Логическая модель — это ER-модель данных: источник, промежуточная таблица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как клон целевой и сама целевая таблица. Связаны они по ключу слияния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идентификатору, плюс задаётся партиционирование и кластеризация.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Также сформулированы требования — функциональные, то есть что система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должна делать, и нефункциональные: непрерывная доступность, полнота 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сохранность данных, идемпотентность, согласованность, масштабируемость 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наблюдаемость.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3F0F5EB-76CC-4CCB-A3AA-1A5ABCECB11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Подведу итог. В работе проведён аналитический обзор и поставлена научная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задача с выявленными ограничениями существующих подходов. Обоснован выбор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подхода к оптимизации и сформулированы функциональные и нефункциональные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требования. Разработаны и формализованы средствами UML и ER концептуальная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 логическая модели оптимизированной синхронизации. Наконец, выполнен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анализ свойств, ограничений и областей применимости и обоснованы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преимущества перед известными аналогами.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Разработанные модели образуют теоретическую основу предложенного метода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оптимизации.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Спасибо за внимание! Готов ответить на вопросы.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198DB0-F176-4CC5-AD95-5BB31C1DFDD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8869680" y="-1097280"/>
            <a:ext cx="4754160" cy="4754160"/>
          </a:xfrm>
          <a:prstGeom prst="roundRect">
            <a:avLst>
              <a:gd name="adj" fmla="val 7692"/>
            </a:avLst>
          </a:prstGeom>
          <a:solidFill>
            <a:srgbClr val="0E8C8B">
              <a:alpha val="2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875520" y="3291840"/>
            <a:ext cx="4205520" cy="4205520"/>
          </a:xfrm>
          <a:prstGeom prst="roundRect">
            <a:avLst>
              <a:gd name="adj" fmla="val 8696"/>
            </a:avLst>
          </a:prstGeom>
          <a:solidFill>
            <a:srgbClr val="6D5BA6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640080" y="1371600"/>
            <a:ext cx="10514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98" strike="noStrike">
                <a:solidFill>
                  <a:srgbClr val="8FE3D6"/>
                </a:solidFill>
                <a:effectLst/>
                <a:uFillTx/>
                <a:latin typeface="Calibri"/>
                <a:ea typeface="Calibri"/>
              </a:rPr>
              <a:t>НАУЧНО-ИССЛЕДОВАТЕЛЬСКАЯ РАБОТА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640080" y="1828800"/>
            <a:ext cx="10423440" cy="21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3300" b="1" u="none" strike="noStrike">
                <a:solidFill>
                  <a:srgbClr val="FFFFFF"/>
                </a:solidFill>
                <a:effectLst/>
                <a:uFillTx/>
                <a:latin typeface="Century Schoolbook"/>
                <a:ea typeface="Century Schoolbook"/>
              </a:rPr>
              <a:t>Методы оптимизации хранения и обработки данных при синхронизации разнородных источников с аналитическим хранилищем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640080" y="4114800"/>
            <a:ext cx="9143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ADCEC"/>
                </a:solidFill>
                <a:effectLst/>
                <a:uFillTx/>
                <a:latin typeface="Calibri"/>
                <a:ea typeface="Calibri"/>
              </a:rPr>
              <a:t>теоретико-аналитический этап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640080" y="5212080"/>
            <a:ext cx="105148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4EDF5"/>
                </a:solidFill>
                <a:effectLst/>
                <a:uFillTx/>
                <a:latin typeface="Calibri"/>
                <a:ea typeface="Calibri"/>
              </a:rPr>
              <a:t>Выполнил: Деменков И.М., группа 12-25 РПмз, 09.04.04 «Программная инженерия»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4EDF5"/>
                </a:solidFill>
                <a:effectLst/>
                <a:uFillTx/>
                <a:latin typeface="Calibri"/>
                <a:ea typeface="Calibri"/>
              </a:rPr>
              <a:t>Научный руководитель: д.т.н., профессор Гришин И.Ю.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0"/>
          <p:cNvSpPr/>
          <p:nvPr/>
        </p:nvSpPr>
        <p:spPr>
          <a:xfrm>
            <a:off x="640080" y="384120"/>
            <a:ext cx="10972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98" strike="noStrike">
                <a:solidFill>
                  <a:srgbClr val="0E8C8B"/>
                </a:solidFill>
                <a:effectLst/>
                <a:uFillTx/>
                <a:latin typeface="Calibri"/>
                <a:ea typeface="Calibri"/>
              </a:rPr>
              <a:t>ВВЕДЕНИЕ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1"/>
          <p:cNvSpPr/>
          <p:nvPr/>
        </p:nvSpPr>
        <p:spPr>
          <a:xfrm>
            <a:off x="640080" y="658440"/>
            <a:ext cx="109720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F2A43"/>
                </a:solidFill>
                <a:effectLst/>
                <a:uFillTx/>
                <a:latin typeface="Century Schoolbook"/>
                <a:ea typeface="Century Schoolbook"/>
              </a:rPr>
              <a:t>Контекст и фокус работы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2"/>
          <p:cNvSpPr/>
          <p:nvPr/>
        </p:nvSpPr>
        <p:spPr>
          <a:xfrm>
            <a:off x="640080" y="1554480"/>
            <a:ext cx="6582960" cy="31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12000"/>
              </a:lnSpc>
              <a:spcAft>
                <a:spcPts val="799"/>
              </a:spcAft>
              <a:buClr>
                <a:srgbClr val="0F2A43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0F2A43"/>
                </a:solidFill>
                <a:effectLst/>
                <a:uFillTx/>
                <a:latin typeface="Calibri"/>
                <a:ea typeface="Calibri"/>
              </a:rPr>
              <a:t>Рост объёмов данных и роль аналитики повышают требования к наполнению облачных колоночных хранилищ — по стоимости, скорости, согласованности и доступности данных.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12000"/>
              </a:lnSpc>
              <a:spcAft>
                <a:spcPts val="799"/>
              </a:spcAft>
              <a:buClr>
                <a:srgbClr val="0F2A43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0F2A43"/>
                </a:solidFill>
                <a:effectLst/>
                <a:uFillTx/>
                <a:latin typeface="Calibri"/>
                <a:ea typeface="Calibri"/>
              </a:rPr>
              <a:t>Интеграция разнородных источников (реляционных и документоориентированных СУБД) с единым хранилищем остаётся нетривиальной задачей.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12000"/>
              </a:lnSpc>
              <a:buClr>
                <a:srgbClr val="0F2A43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0F2A43"/>
                </a:solidFill>
                <a:effectLst/>
                <a:uFillTx/>
                <a:latin typeface="Calibri"/>
                <a:ea typeface="Calibri"/>
              </a:rPr>
              <a:t>Существующие подходы к инкрементальной синхронизации не всегда дают одновременно непрерывную доступность, полноту и приемлемую стоимость.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3"/>
          <p:cNvSpPr/>
          <p:nvPr/>
        </p:nvSpPr>
        <p:spPr>
          <a:xfrm>
            <a:off x="7772400" y="1554480"/>
            <a:ext cx="3748320" cy="1462320"/>
          </a:xfrm>
          <a:prstGeom prst="roundRect">
            <a:avLst>
              <a:gd name="adj" fmla="val 6250"/>
            </a:avLst>
          </a:prstGeom>
          <a:solidFill>
            <a:srgbClr val="F4F8FB"/>
          </a:solidFill>
          <a:ln w="12700">
            <a:solidFill>
              <a:srgbClr val="C9D6E2"/>
            </a:solidFill>
            <a:round/>
          </a:ln>
          <a:effectLst>
            <a:outerShdw algn="bl" blurRad="114480" dir="5400000" dist="38160" kx="0" ky="0" rotWithShape="0" sx="100000" sy="100000">
              <a:srgbClr val="9FB3C8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4"/>
          <p:cNvSpPr/>
          <p:nvPr/>
        </p:nvSpPr>
        <p:spPr>
          <a:xfrm>
            <a:off x="8001000" y="1691640"/>
            <a:ext cx="32911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E8C8B"/>
                </a:solidFill>
                <a:effectLst/>
                <a:uFillTx/>
                <a:latin typeface="Calibri"/>
                <a:ea typeface="Calibri"/>
              </a:rPr>
              <a:t>Объект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5"/>
          <p:cNvSpPr/>
          <p:nvPr/>
        </p:nvSpPr>
        <p:spPr>
          <a:xfrm>
            <a:off x="8001000" y="2011680"/>
            <a:ext cx="329112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0F2A43"/>
                </a:solidFill>
                <a:effectLst/>
                <a:uFillTx/>
                <a:latin typeface="Calibri"/>
                <a:ea typeface="Calibri"/>
              </a:rPr>
              <a:t>Процессы хранения и обработки данных при синхронизации разнородных источников с аналитическим хранилищем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6"/>
          <p:cNvSpPr/>
          <p:nvPr/>
        </p:nvSpPr>
        <p:spPr>
          <a:xfrm>
            <a:off x="7772400" y="3200400"/>
            <a:ext cx="3748320" cy="1462320"/>
          </a:xfrm>
          <a:prstGeom prst="roundRect">
            <a:avLst>
              <a:gd name="adj" fmla="val 6250"/>
            </a:avLst>
          </a:prstGeom>
          <a:solidFill>
            <a:srgbClr val="F4F8FB"/>
          </a:solidFill>
          <a:ln w="12700">
            <a:solidFill>
              <a:srgbClr val="C9D6E2"/>
            </a:solidFill>
            <a:round/>
          </a:ln>
          <a:effectLst>
            <a:outerShdw algn="bl" blurRad="114480" dir="5400000" dist="38160" kx="0" ky="0" rotWithShape="0" sx="100000" sy="100000">
              <a:srgbClr val="9FB3C8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7"/>
          <p:cNvSpPr/>
          <p:nvPr/>
        </p:nvSpPr>
        <p:spPr>
          <a:xfrm>
            <a:off x="8001000" y="3337560"/>
            <a:ext cx="32911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6D5BA6"/>
                </a:solidFill>
                <a:effectLst/>
                <a:uFillTx/>
                <a:latin typeface="Calibri"/>
                <a:ea typeface="Calibri"/>
              </a:rPr>
              <a:t>Предмет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8"/>
          <p:cNvSpPr/>
          <p:nvPr/>
        </p:nvSpPr>
        <p:spPr>
          <a:xfrm>
            <a:off x="8001000" y="3657600"/>
            <a:ext cx="329112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0F2A43"/>
                </a:solidFill>
                <a:effectLst/>
                <a:uFillTx/>
                <a:latin typeface="Calibri"/>
                <a:ea typeface="Calibri"/>
              </a:rPr>
              <a:t>Модели, методы и средства оптимизации хранения и обработки данных для повышения производительности аналитических запросов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9"/>
          <p:cNvSpPr/>
          <p:nvPr/>
        </p:nvSpPr>
        <p:spPr>
          <a:xfrm>
            <a:off x="640080" y="647388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Деменков И.М. · гр. 12-25 РПмз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0"/>
          <p:cNvSpPr/>
          <p:nvPr/>
        </p:nvSpPr>
        <p:spPr>
          <a:xfrm>
            <a:off x="11091600" y="647388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40080" y="384120"/>
            <a:ext cx="10972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98" strike="noStrike">
                <a:solidFill>
                  <a:srgbClr val="0E8C8B"/>
                </a:solidFill>
                <a:effectLst/>
                <a:uFillTx/>
                <a:latin typeface="Calibri"/>
                <a:ea typeface="Calibri"/>
              </a:rPr>
              <a:t>ВВЕДЕНИЕ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40080" y="658440"/>
            <a:ext cx="109720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F2A43"/>
                </a:solidFill>
                <a:effectLst/>
                <a:uFillTx/>
                <a:latin typeface="Century Schoolbook"/>
                <a:ea typeface="Century Schoolbook"/>
              </a:rPr>
              <a:t>Цель и задачи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2"/>
          <p:cNvSpPr/>
          <p:nvPr/>
        </p:nvSpPr>
        <p:spPr>
          <a:xfrm>
            <a:off x="640080" y="1554480"/>
            <a:ext cx="5028480" cy="3565440"/>
          </a:xfrm>
          <a:prstGeom prst="roundRect">
            <a:avLst>
              <a:gd name="adj" fmla="val 2564"/>
            </a:avLst>
          </a:prstGeom>
          <a:solidFill>
            <a:srgbClr val="EAF2F7"/>
          </a:solidFill>
          <a:ln w="12700">
            <a:solidFill>
              <a:srgbClr val="C9D6E2"/>
            </a:solidFill>
            <a:round/>
          </a:ln>
          <a:effectLst>
            <a:outerShdw algn="bl" blurRad="114480" dir="5400000" dist="38160" kx="0" ky="0" rotWithShape="0" sx="100000" sy="100000">
              <a:srgbClr val="9FB3C8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3"/>
          <p:cNvSpPr/>
          <p:nvPr/>
        </p:nvSpPr>
        <p:spPr>
          <a:xfrm>
            <a:off x="914400" y="1737360"/>
            <a:ext cx="4571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E8C8B"/>
                </a:solidFill>
                <a:effectLst/>
                <a:uFillTx/>
                <a:latin typeface="Calibri"/>
                <a:ea typeface="Calibri"/>
              </a:rPr>
              <a:t>Цель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4"/>
          <p:cNvSpPr/>
          <p:nvPr/>
        </p:nvSpPr>
        <p:spPr>
          <a:xfrm>
            <a:off x="914400" y="2148840"/>
            <a:ext cx="452556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0F2A43"/>
                </a:solidFill>
                <a:effectLst/>
                <a:uFillTx/>
                <a:latin typeface="Calibri"/>
                <a:ea typeface="Calibri"/>
              </a:rPr>
              <a:t>Провести аналитический обзор подходов к синхронизации разнородных источников с аналитическим хранилищем, обосновать выбор подхода и разработать концептуальную и логическую модели оптимизированной синхронизации.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5"/>
          <p:cNvSpPr/>
          <p:nvPr/>
        </p:nvSpPr>
        <p:spPr>
          <a:xfrm>
            <a:off x="6035040" y="1554480"/>
            <a:ext cx="5531400" cy="547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6E2"/>
            </a:solidFill>
            <a:round/>
          </a:ln>
          <a:effectLst>
            <a:outerShdw algn="bl" blurRad="114480" dir="5400000" dist="38160" kx="0" ky="0" rotWithShape="0" sx="100000" sy="100000">
              <a:srgbClr val="9FB3C8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6"/>
          <p:cNvSpPr/>
          <p:nvPr/>
        </p:nvSpPr>
        <p:spPr>
          <a:xfrm>
            <a:off x="6199560" y="1682640"/>
            <a:ext cx="291960" cy="291960"/>
          </a:xfrm>
          <a:prstGeom prst="ellipse">
            <a:avLst/>
          </a:prstGeom>
          <a:solidFill>
            <a:srgbClr val="0E8C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7"/>
          <p:cNvSpPr/>
          <p:nvPr/>
        </p:nvSpPr>
        <p:spPr>
          <a:xfrm>
            <a:off x="6199560" y="1682640"/>
            <a:ext cx="291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8"/>
          <p:cNvSpPr/>
          <p:nvPr/>
        </p:nvSpPr>
        <p:spPr>
          <a:xfrm>
            <a:off x="6602040" y="1554480"/>
            <a:ext cx="4799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0F2A43"/>
                </a:solidFill>
                <a:effectLst/>
                <a:uFillTx/>
                <a:latin typeface="Calibri"/>
                <a:ea typeface="Calibri"/>
              </a:rPr>
              <a:t>Обзор и сравнительный анализ стратегий загрузки; выявить ограничения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9"/>
          <p:cNvSpPr/>
          <p:nvPr/>
        </p:nvSpPr>
        <p:spPr>
          <a:xfrm>
            <a:off x="6035040" y="2148840"/>
            <a:ext cx="5531400" cy="547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6E2"/>
            </a:solidFill>
            <a:round/>
          </a:ln>
          <a:effectLst>
            <a:outerShdw algn="bl" blurRad="114480" dir="5400000" dist="38160" kx="0" ky="0" rotWithShape="0" sx="100000" sy="100000">
              <a:srgbClr val="9FB3C8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0"/>
          <p:cNvSpPr/>
          <p:nvPr/>
        </p:nvSpPr>
        <p:spPr>
          <a:xfrm>
            <a:off x="6199560" y="2277000"/>
            <a:ext cx="291960" cy="291960"/>
          </a:xfrm>
          <a:prstGeom prst="ellipse">
            <a:avLst/>
          </a:prstGeom>
          <a:solidFill>
            <a:srgbClr val="6D5B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1"/>
          <p:cNvSpPr/>
          <p:nvPr/>
        </p:nvSpPr>
        <p:spPr>
          <a:xfrm>
            <a:off x="6199560" y="2277000"/>
            <a:ext cx="291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2"/>
          <p:cNvSpPr/>
          <p:nvPr/>
        </p:nvSpPr>
        <p:spPr>
          <a:xfrm>
            <a:off x="6602040" y="2148840"/>
            <a:ext cx="4799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0F2A43"/>
                </a:solidFill>
                <a:effectLst/>
                <a:uFillTx/>
                <a:latin typeface="Calibri"/>
                <a:ea typeface="Calibri"/>
              </a:rPr>
              <a:t>Постановка научной задачи исследования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3"/>
          <p:cNvSpPr/>
          <p:nvPr/>
        </p:nvSpPr>
        <p:spPr>
          <a:xfrm>
            <a:off x="6035040" y="2743200"/>
            <a:ext cx="5531400" cy="547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6E2"/>
            </a:solidFill>
            <a:round/>
          </a:ln>
          <a:effectLst>
            <a:outerShdw algn="bl" blurRad="114480" dir="5400000" dist="38160" kx="0" ky="0" rotWithShape="0" sx="100000" sy="100000">
              <a:srgbClr val="9FB3C8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4"/>
          <p:cNvSpPr/>
          <p:nvPr/>
        </p:nvSpPr>
        <p:spPr>
          <a:xfrm>
            <a:off x="6199560" y="2871360"/>
            <a:ext cx="291960" cy="291960"/>
          </a:xfrm>
          <a:prstGeom prst="ellipse">
            <a:avLst/>
          </a:prstGeom>
          <a:solidFill>
            <a:srgbClr val="0E8C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5"/>
          <p:cNvSpPr/>
          <p:nvPr/>
        </p:nvSpPr>
        <p:spPr>
          <a:xfrm>
            <a:off x="6199560" y="2871360"/>
            <a:ext cx="291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6"/>
          <p:cNvSpPr/>
          <p:nvPr/>
        </p:nvSpPr>
        <p:spPr>
          <a:xfrm>
            <a:off x="6602040" y="2743200"/>
            <a:ext cx="4799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0F2A43"/>
                </a:solidFill>
                <a:effectLst/>
                <a:uFillTx/>
                <a:latin typeface="Calibri"/>
                <a:ea typeface="Calibri"/>
              </a:rPr>
              <a:t>Обоснование выбора подхода к оптимизации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17"/>
          <p:cNvSpPr/>
          <p:nvPr/>
        </p:nvSpPr>
        <p:spPr>
          <a:xfrm>
            <a:off x="6035040" y="3337560"/>
            <a:ext cx="5531400" cy="547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6E2"/>
            </a:solidFill>
            <a:round/>
          </a:ln>
          <a:effectLst>
            <a:outerShdw algn="bl" blurRad="114480" dir="5400000" dist="38160" kx="0" ky="0" rotWithShape="0" sx="100000" sy="100000">
              <a:srgbClr val="9FB3C8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8"/>
          <p:cNvSpPr/>
          <p:nvPr/>
        </p:nvSpPr>
        <p:spPr>
          <a:xfrm>
            <a:off x="6199560" y="3465720"/>
            <a:ext cx="291960" cy="291960"/>
          </a:xfrm>
          <a:prstGeom prst="ellipse">
            <a:avLst/>
          </a:prstGeom>
          <a:solidFill>
            <a:srgbClr val="6D5B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9"/>
          <p:cNvSpPr/>
          <p:nvPr/>
        </p:nvSpPr>
        <p:spPr>
          <a:xfrm>
            <a:off x="6199560" y="3465720"/>
            <a:ext cx="291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0"/>
          <p:cNvSpPr/>
          <p:nvPr/>
        </p:nvSpPr>
        <p:spPr>
          <a:xfrm>
            <a:off x="6602040" y="3337560"/>
            <a:ext cx="4799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0F2A43"/>
                </a:solidFill>
                <a:effectLst/>
                <a:uFillTx/>
                <a:latin typeface="Calibri"/>
                <a:ea typeface="Calibri"/>
              </a:rPr>
              <a:t>Функциональные и нефункциональные требования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1"/>
          <p:cNvSpPr/>
          <p:nvPr/>
        </p:nvSpPr>
        <p:spPr>
          <a:xfrm>
            <a:off x="6035040" y="3931920"/>
            <a:ext cx="5531400" cy="547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6E2"/>
            </a:solidFill>
            <a:round/>
          </a:ln>
          <a:effectLst>
            <a:outerShdw algn="bl" blurRad="114480" dir="5400000" dist="38160" kx="0" ky="0" rotWithShape="0" sx="100000" sy="100000">
              <a:srgbClr val="9FB3C8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22"/>
          <p:cNvSpPr/>
          <p:nvPr/>
        </p:nvSpPr>
        <p:spPr>
          <a:xfrm>
            <a:off x="6199560" y="4060080"/>
            <a:ext cx="291960" cy="291960"/>
          </a:xfrm>
          <a:prstGeom prst="ellipse">
            <a:avLst/>
          </a:prstGeom>
          <a:solidFill>
            <a:srgbClr val="0E8C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3"/>
          <p:cNvSpPr/>
          <p:nvPr/>
        </p:nvSpPr>
        <p:spPr>
          <a:xfrm>
            <a:off x="6199560" y="4060080"/>
            <a:ext cx="291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4"/>
          <p:cNvSpPr/>
          <p:nvPr/>
        </p:nvSpPr>
        <p:spPr>
          <a:xfrm>
            <a:off x="6602040" y="3931920"/>
            <a:ext cx="4799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0F2A43"/>
                </a:solidFill>
                <a:effectLst/>
                <a:uFillTx/>
                <a:latin typeface="Calibri"/>
                <a:ea typeface="Calibri"/>
              </a:rPr>
              <a:t>Концептуальная и логическая модели (UML/ER)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25"/>
          <p:cNvSpPr/>
          <p:nvPr/>
        </p:nvSpPr>
        <p:spPr>
          <a:xfrm>
            <a:off x="6035040" y="4526280"/>
            <a:ext cx="5531400" cy="547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6E2"/>
            </a:solidFill>
            <a:round/>
          </a:ln>
          <a:effectLst>
            <a:outerShdw algn="bl" blurRad="114480" dir="5400000" dist="38160" kx="0" ky="0" rotWithShape="0" sx="100000" sy="100000">
              <a:srgbClr val="9FB3C8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26"/>
          <p:cNvSpPr/>
          <p:nvPr/>
        </p:nvSpPr>
        <p:spPr>
          <a:xfrm>
            <a:off x="6199560" y="4654440"/>
            <a:ext cx="291960" cy="291960"/>
          </a:xfrm>
          <a:prstGeom prst="ellipse">
            <a:avLst/>
          </a:prstGeom>
          <a:solidFill>
            <a:srgbClr val="6D5B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27"/>
          <p:cNvSpPr/>
          <p:nvPr/>
        </p:nvSpPr>
        <p:spPr>
          <a:xfrm>
            <a:off x="6199560" y="4654440"/>
            <a:ext cx="291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8"/>
          <p:cNvSpPr/>
          <p:nvPr/>
        </p:nvSpPr>
        <p:spPr>
          <a:xfrm>
            <a:off x="6602040" y="4526280"/>
            <a:ext cx="4799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0F2A43"/>
                </a:solidFill>
                <a:effectLst/>
                <a:uFillTx/>
                <a:latin typeface="Calibri"/>
                <a:ea typeface="Calibri"/>
              </a:rPr>
              <a:t>Анализ свойств, ограничений и преимуществ перед аналогами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9"/>
          <p:cNvSpPr/>
          <p:nvPr/>
        </p:nvSpPr>
        <p:spPr>
          <a:xfrm>
            <a:off x="640080" y="647388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Деменков И.М. · гр. 12-25 РПмз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0"/>
          <p:cNvSpPr/>
          <p:nvPr/>
        </p:nvSpPr>
        <p:spPr>
          <a:xfrm>
            <a:off x="11091600" y="647388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0"/>
          <p:cNvSpPr/>
          <p:nvPr/>
        </p:nvSpPr>
        <p:spPr>
          <a:xfrm>
            <a:off x="640080" y="384120"/>
            <a:ext cx="10972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98" strike="noStrike">
                <a:solidFill>
                  <a:srgbClr val="0E8C8B"/>
                </a:solidFill>
                <a:effectLst/>
                <a:uFillTx/>
                <a:latin typeface="Calibri"/>
                <a:ea typeface="Calibri"/>
              </a:rPr>
              <a:t>АНАЛИЗ ПРЕДМЕТНОЙ ОБЛАСТИ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"/>
          <p:cNvSpPr/>
          <p:nvPr/>
        </p:nvSpPr>
        <p:spPr>
          <a:xfrm>
            <a:off x="640080" y="658440"/>
            <a:ext cx="109720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F2A43"/>
                </a:solidFill>
                <a:effectLst/>
                <a:uFillTx/>
                <a:latin typeface="Century Schoolbook"/>
                <a:ea typeface="Century Schoolbook"/>
              </a:rPr>
              <a:t>Ключевые проблемы инкрементальной синхронизации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2"/>
          <p:cNvSpPr/>
          <p:nvPr/>
        </p:nvSpPr>
        <p:spPr>
          <a:xfrm>
            <a:off x="640080" y="1737360"/>
            <a:ext cx="3611160" cy="3199680"/>
          </a:xfrm>
          <a:prstGeom prst="roundRect">
            <a:avLst>
              <a:gd name="adj" fmla="val 2857"/>
            </a:avLst>
          </a:prstGeom>
          <a:solidFill>
            <a:srgbClr val="F4F8FB"/>
          </a:solidFill>
          <a:ln w="12700">
            <a:solidFill>
              <a:srgbClr val="C9D6E2"/>
            </a:solidFill>
            <a:round/>
          </a:ln>
          <a:effectLst>
            <a:outerShdw algn="bl" blurRad="114480" dir="5400000" dist="38160" kx="0" ky="0" rotWithShape="0" sx="100000" sy="100000">
              <a:srgbClr val="9FB3C8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3"/>
          <p:cNvSpPr/>
          <p:nvPr/>
        </p:nvSpPr>
        <p:spPr>
          <a:xfrm>
            <a:off x="960120" y="2057400"/>
            <a:ext cx="566280" cy="566280"/>
          </a:xfrm>
          <a:prstGeom prst="ellipse">
            <a:avLst/>
          </a:prstGeom>
          <a:solidFill>
            <a:srgbClr val="0E8C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4"/>
          <p:cNvSpPr/>
          <p:nvPr/>
        </p:nvSpPr>
        <p:spPr>
          <a:xfrm>
            <a:off x="960120" y="20574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entury Schoolbook"/>
                <a:ea typeface="Century Schoolbook"/>
              </a:rPr>
              <a:t>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5"/>
          <p:cNvSpPr/>
          <p:nvPr/>
        </p:nvSpPr>
        <p:spPr>
          <a:xfrm>
            <a:off x="960120" y="2788920"/>
            <a:ext cx="2971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F2A43"/>
                </a:solidFill>
                <a:effectLst/>
                <a:uFillTx/>
                <a:latin typeface="Century Schoolbook"/>
                <a:ea typeface="Century Schoolbook"/>
              </a:rPr>
              <a:t>Пропуск строк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6"/>
          <p:cNvSpPr/>
          <p:nvPr/>
        </p:nvSpPr>
        <p:spPr>
          <a:xfrm>
            <a:off x="960120" y="3337560"/>
            <a:ext cx="297108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33475B"/>
                </a:solidFill>
                <a:effectLst/>
                <a:uFillTx/>
                <a:latin typeface="Calibri"/>
                <a:ea typeface="Calibri"/>
              </a:rPr>
              <a:t>Транзакция с большим ID может зафиксироваться раньше, чем с меньшим; курсор по max(id) «перешагивает» незафиксированную строку.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7"/>
          <p:cNvSpPr/>
          <p:nvPr/>
        </p:nvSpPr>
        <p:spPr>
          <a:xfrm>
            <a:off x="4471560" y="1737360"/>
            <a:ext cx="3611160" cy="3199680"/>
          </a:xfrm>
          <a:prstGeom prst="roundRect">
            <a:avLst>
              <a:gd name="adj" fmla="val 2857"/>
            </a:avLst>
          </a:prstGeom>
          <a:solidFill>
            <a:srgbClr val="F4F8FB"/>
          </a:solidFill>
          <a:ln w="12700">
            <a:solidFill>
              <a:srgbClr val="C9D6E2"/>
            </a:solidFill>
            <a:round/>
          </a:ln>
          <a:effectLst>
            <a:outerShdw algn="bl" blurRad="114480" dir="5400000" dist="38160" kx="0" ky="0" rotWithShape="0" sx="100000" sy="100000">
              <a:srgbClr val="9FB3C8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8"/>
          <p:cNvSpPr/>
          <p:nvPr/>
        </p:nvSpPr>
        <p:spPr>
          <a:xfrm>
            <a:off x="4791600" y="2057400"/>
            <a:ext cx="566280" cy="566280"/>
          </a:xfrm>
          <a:prstGeom prst="ellipse">
            <a:avLst/>
          </a:prstGeom>
          <a:solidFill>
            <a:srgbClr val="6D5B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9"/>
          <p:cNvSpPr/>
          <p:nvPr/>
        </p:nvSpPr>
        <p:spPr>
          <a:xfrm>
            <a:off x="4791600" y="20574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entury Schoolbook"/>
                <a:ea typeface="Century Schoolbook"/>
              </a:rPr>
              <a:t>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0"/>
          <p:cNvSpPr/>
          <p:nvPr/>
        </p:nvSpPr>
        <p:spPr>
          <a:xfrm>
            <a:off x="4791600" y="2788920"/>
            <a:ext cx="2971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F2A43"/>
                </a:solidFill>
                <a:effectLst/>
                <a:uFillTx/>
                <a:latin typeface="Century Schoolbook"/>
                <a:ea typeface="Century Schoolbook"/>
              </a:rPr>
              <a:t>Окно недоступности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1"/>
          <p:cNvSpPr/>
          <p:nvPr/>
        </p:nvSpPr>
        <p:spPr>
          <a:xfrm>
            <a:off x="4791600" y="3337560"/>
            <a:ext cx="297108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33475B"/>
                </a:solidFill>
                <a:effectLst/>
                <a:uFillTx/>
                <a:latin typeface="Calibri"/>
                <a:ea typeface="Calibri"/>
              </a:rPr>
              <a:t>При схеме DELETE + INSERT между удалением «хвоста» и вставкой данные временно отсутствуют — запросы возвращают неполный результат.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2"/>
          <p:cNvSpPr/>
          <p:nvPr/>
        </p:nvSpPr>
        <p:spPr>
          <a:xfrm>
            <a:off x="8302680" y="1737360"/>
            <a:ext cx="3611160" cy="3199680"/>
          </a:xfrm>
          <a:prstGeom prst="roundRect">
            <a:avLst>
              <a:gd name="adj" fmla="val 2857"/>
            </a:avLst>
          </a:prstGeom>
          <a:solidFill>
            <a:srgbClr val="F4F8FB"/>
          </a:solidFill>
          <a:ln w="12700">
            <a:solidFill>
              <a:srgbClr val="C9D6E2"/>
            </a:solidFill>
            <a:round/>
          </a:ln>
          <a:effectLst>
            <a:outerShdw algn="bl" blurRad="114480" dir="5400000" dist="38160" kx="0" ky="0" rotWithShape="0" sx="100000" sy="100000">
              <a:srgbClr val="9FB3C8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3"/>
          <p:cNvSpPr/>
          <p:nvPr/>
        </p:nvSpPr>
        <p:spPr>
          <a:xfrm>
            <a:off x="8622720" y="2057400"/>
            <a:ext cx="566280" cy="566280"/>
          </a:xfrm>
          <a:prstGeom prst="ellipse">
            <a:avLst/>
          </a:prstGeom>
          <a:solidFill>
            <a:srgbClr val="2E8B6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4"/>
          <p:cNvSpPr/>
          <p:nvPr/>
        </p:nvSpPr>
        <p:spPr>
          <a:xfrm>
            <a:off x="8622720" y="20574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entury Schoolbook"/>
                <a:ea typeface="Century Schoolbook"/>
              </a:rPr>
              <a:t>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5"/>
          <p:cNvSpPr/>
          <p:nvPr/>
        </p:nvSpPr>
        <p:spPr>
          <a:xfrm>
            <a:off x="8622720" y="2788920"/>
            <a:ext cx="2971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F2A43"/>
                </a:solidFill>
                <a:effectLst/>
                <a:uFillTx/>
                <a:latin typeface="Century Schoolbook"/>
                <a:ea typeface="Century Schoolbook"/>
              </a:rPr>
              <a:t>Согласованность чтений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6"/>
          <p:cNvSpPr/>
          <p:nvPr/>
        </p:nvSpPr>
        <p:spPr>
          <a:xfrm>
            <a:off x="8622720" y="3337560"/>
            <a:ext cx="297108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33475B"/>
                </a:solidFill>
                <a:effectLst/>
                <a:uFillTx/>
                <a:latin typeface="Calibri"/>
                <a:ea typeface="Calibri"/>
              </a:rPr>
              <a:t>Неполные промежуточные состояния таблицы нарушают согласованность аналитических выборок (свойства ACID).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7"/>
          <p:cNvSpPr/>
          <p:nvPr/>
        </p:nvSpPr>
        <p:spPr>
          <a:xfrm>
            <a:off x="640080" y="647388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Деменков И.М. · гр. 12-25 РПмз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8"/>
          <p:cNvSpPr/>
          <p:nvPr/>
        </p:nvSpPr>
        <p:spPr>
          <a:xfrm>
            <a:off x="11091600" y="647388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 0"/>
          <p:cNvSpPr/>
          <p:nvPr/>
        </p:nvSpPr>
        <p:spPr>
          <a:xfrm>
            <a:off x="640080" y="384120"/>
            <a:ext cx="10972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98" strike="noStrike">
                <a:solidFill>
                  <a:srgbClr val="0E8C8B"/>
                </a:solidFill>
                <a:effectLst/>
                <a:uFillTx/>
                <a:latin typeface="Calibri"/>
                <a:ea typeface="Calibri"/>
              </a:rPr>
              <a:t>ПРЕДЛАГАЕМЫЙ ПОДХОД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"/>
          <p:cNvSpPr/>
          <p:nvPr/>
        </p:nvSpPr>
        <p:spPr>
          <a:xfrm>
            <a:off x="640080" y="658440"/>
            <a:ext cx="109720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F2A43"/>
                </a:solidFill>
                <a:effectLst/>
                <a:uFillTx/>
                <a:latin typeface="Century Schoolbook"/>
                <a:ea typeface="Century Schoolbook"/>
              </a:rPr>
              <a:t>Промежуточная таблица и атомарное обновление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Image 0" descr="/home/claude/sl_pipeline.png"/>
          <p:cNvPicPr/>
          <p:nvPr/>
        </p:nvPicPr>
        <p:blipFill>
          <a:blip r:embed="rId1"/>
          <a:stretch/>
        </p:blipFill>
        <p:spPr>
          <a:xfrm>
            <a:off x="608040" y="1600200"/>
            <a:ext cx="10972080" cy="376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Shape 2"/>
          <p:cNvSpPr/>
          <p:nvPr/>
        </p:nvSpPr>
        <p:spPr>
          <a:xfrm>
            <a:off x="640080" y="5682960"/>
            <a:ext cx="5394240" cy="913680"/>
          </a:xfrm>
          <a:prstGeom prst="roundRect">
            <a:avLst>
              <a:gd name="adj" fmla="val 10000"/>
            </a:avLst>
          </a:prstGeom>
          <a:solidFill>
            <a:srgbClr val="F4F8FB"/>
          </a:solidFill>
          <a:ln w="12700">
            <a:solidFill>
              <a:srgbClr val="C9D6E2"/>
            </a:solidFill>
            <a:round/>
          </a:ln>
          <a:effectLst>
            <a:outerShdw algn="bl" blurRad="114480" dir="5400000" dist="38160" kx="0" ky="0" rotWithShape="0" sx="100000" sy="100000">
              <a:srgbClr val="9FB3C8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3"/>
          <p:cNvSpPr/>
          <p:nvPr/>
        </p:nvSpPr>
        <p:spPr>
          <a:xfrm>
            <a:off x="868680" y="5682960"/>
            <a:ext cx="49370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E8C8B"/>
                </a:solidFill>
                <a:effectLst/>
                <a:uFillTx/>
                <a:latin typeface="Calibri"/>
                <a:ea typeface="Calibri"/>
              </a:rPr>
              <a:t>Нет окна недоступности — </a:t>
            </a:r>
            <a:r>
              <a:rPr lang="en-US" sz="1350" b="0" u="none" strike="noStrike">
                <a:solidFill>
                  <a:srgbClr val="0F2A43"/>
                </a:solidFill>
                <a:effectLst/>
                <a:uFillTx/>
                <a:latin typeface="Calibri"/>
                <a:ea typeface="Calibri"/>
              </a:rPr>
              <a:t>обновление крупными блоками без перезаписи на месте.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4"/>
          <p:cNvSpPr/>
          <p:nvPr/>
        </p:nvSpPr>
        <p:spPr>
          <a:xfrm>
            <a:off x="6263640" y="5682960"/>
            <a:ext cx="5394240" cy="913680"/>
          </a:xfrm>
          <a:prstGeom prst="roundRect">
            <a:avLst>
              <a:gd name="adj" fmla="val 10000"/>
            </a:avLst>
          </a:prstGeom>
          <a:solidFill>
            <a:srgbClr val="F4F8FB"/>
          </a:solidFill>
          <a:ln w="12700">
            <a:solidFill>
              <a:srgbClr val="C9D6E2"/>
            </a:solidFill>
            <a:round/>
          </a:ln>
          <a:effectLst>
            <a:outerShdw algn="bl" blurRad="114480" dir="5400000" dist="38160" kx="0" ky="0" rotWithShape="0" sx="100000" sy="100000">
              <a:srgbClr val="9FB3C8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5"/>
          <p:cNvSpPr/>
          <p:nvPr/>
        </p:nvSpPr>
        <p:spPr>
          <a:xfrm>
            <a:off x="6492240" y="5682960"/>
            <a:ext cx="49370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6D5BA6"/>
                </a:solidFill>
                <a:effectLst/>
                <a:uFillTx/>
                <a:latin typeface="Calibri"/>
                <a:ea typeface="Calibri"/>
              </a:rPr>
              <a:t>Нет пропуска строк — </a:t>
            </a:r>
            <a:r>
              <a:rPr lang="en-US" sz="1350" b="0" u="none" strike="noStrike">
                <a:solidFill>
                  <a:srgbClr val="0F2A43"/>
                </a:solidFill>
                <a:effectLst/>
                <a:uFillTx/>
                <a:latin typeface="Calibri"/>
                <a:ea typeface="Calibri"/>
              </a:rPr>
              <a:t>перечитывание перекрывающегося трейлингового окна (2 ч).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6"/>
          <p:cNvSpPr/>
          <p:nvPr/>
        </p:nvSpPr>
        <p:spPr>
          <a:xfrm>
            <a:off x="640080" y="647388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Деменков И.М. · гр. 12-25 РПмз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7"/>
          <p:cNvSpPr/>
          <p:nvPr/>
        </p:nvSpPr>
        <p:spPr>
          <a:xfrm>
            <a:off x="11091600" y="647388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0"/>
          <p:cNvSpPr/>
          <p:nvPr/>
        </p:nvSpPr>
        <p:spPr>
          <a:xfrm>
            <a:off x="640080" y="384120"/>
            <a:ext cx="10972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98" strike="noStrike">
                <a:solidFill>
                  <a:srgbClr val="0E8C8B"/>
                </a:solidFill>
                <a:effectLst/>
                <a:uFillTx/>
                <a:latin typeface="Calibri"/>
                <a:ea typeface="Calibri"/>
              </a:rPr>
              <a:t>МЕТОДЫ ОПТИМИЗАЦИИ ХРАНЕНИЯ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"/>
          <p:cNvSpPr/>
          <p:nvPr/>
        </p:nvSpPr>
        <p:spPr>
          <a:xfrm>
            <a:off x="640080" y="658440"/>
            <a:ext cx="109720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F2A43"/>
                </a:solidFill>
                <a:effectLst/>
                <a:uFillTx/>
                <a:latin typeface="Century Schoolbook"/>
                <a:ea typeface="Century Schoolbook"/>
              </a:rPr>
              <a:t>Партиционирование, кластеризация и материализованные представления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8" name="Image 0" descr="/home/claude/sl_mv.png"/>
          <p:cNvPicPr/>
          <p:nvPr/>
        </p:nvPicPr>
        <p:blipFill>
          <a:blip r:embed="rId1"/>
          <a:stretch/>
        </p:blipFill>
        <p:spPr>
          <a:xfrm>
            <a:off x="1248120" y="1554480"/>
            <a:ext cx="9691920" cy="401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ext 2"/>
          <p:cNvSpPr/>
          <p:nvPr/>
        </p:nvSpPr>
        <p:spPr>
          <a:xfrm>
            <a:off x="640080" y="5757840"/>
            <a:ext cx="109720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F2A43"/>
                </a:solidFill>
                <a:effectLst/>
                <a:uFillTx/>
                <a:latin typeface="Calibri"/>
                <a:ea typeface="Calibri"/>
              </a:rPr>
              <a:t>Партиционирование по дню (created_at) и кластеризация по домену клиента — </a:t>
            </a:r>
            <a:r>
              <a:rPr lang="en-US" sz="1350" b="0" u="none" strike="noStrike">
                <a:solidFill>
                  <a:srgbClr val="0F2A43"/>
                </a:solidFill>
                <a:effectLst/>
                <a:uFillTx/>
                <a:latin typeface="Calibri"/>
                <a:ea typeface="Calibri"/>
              </a:rPr>
              <a:t>меньше сканируемых данных и стоимость запросов. Доступ клиентов — через MV к общему датасету вместо копирования: одна копия вместо n + 1, быстрее загрузка.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3"/>
          <p:cNvSpPr/>
          <p:nvPr/>
        </p:nvSpPr>
        <p:spPr>
          <a:xfrm>
            <a:off x="640080" y="647388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Деменков И.М. · гр. 12-25 РПмз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4"/>
          <p:cNvSpPr/>
          <p:nvPr/>
        </p:nvSpPr>
        <p:spPr>
          <a:xfrm>
            <a:off x="11091600" y="647388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 0"/>
          <p:cNvSpPr/>
          <p:nvPr/>
        </p:nvSpPr>
        <p:spPr>
          <a:xfrm>
            <a:off x="640080" y="384120"/>
            <a:ext cx="10972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98" strike="noStrike">
                <a:solidFill>
                  <a:srgbClr val="0E8C8B"/>
                </a:solidFill>
                <a:effectLst/>
                <a:uFillTx/>
                <a:latin typeface="Calibri"/>
                <a:ea typeface="Calibri"/>
              </a:rPr>
              <a:t>МОДЕЛИ И ТРЕБОВАНИЯ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"/>
          <p:cNvSpPr/>
          <p:nvPr/>
        </p:nvSpPr>
        <p:spPr>
          <a:xfrm>
            <a:off x="640080" y="658440"/>
            <a:ext cx="109720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F2A43"/>
                </a:solidFill>
                <a:effectLst/>
                <a:uFillTx/>
                <a:latin typeface="Century Schoolbook"/>
                <a:ea typeface="Century Schoolbook"/>
              </a:rPr>
              <a:t>Формализация средствами UML/ER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2"/>
          <p:cNvSpPr/>
          <p:nvPr/>
        </p:nvSpPr>
        <p:spPr>
          <a:xfrm>
            <a:off x="640080" y="1600200"/>
            <a:ext cx="5394240" cy="3382560"/>
          </a:xfrm>
          <a:prstGeom prst="roundRect">
            <a:avLst>
              <a:gd name="adj" fmla="val 2703"/>
            </a:avLst>
          </a:prstGeom>
          <a:solidFill>
            <a:srgbClr val="F4F8FB"/>
          </a:solidFill>
          <a:ln w="12700">
            <a:solidFill>
              <a:srgbClr val="C9D6E2"/>
            </a:solidFill>
            <a:round/>
          </a:ln>
          <a:effectLst>
            <a:outerShdw algn="bl" blurRad="114480" dir="5400000" dist="38160" kx="0" ky="0" rotWithShape="0" sx="100000" sy="100000">
              <a:srgbClr val="9FB3C8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3"/>
          <p:cNvSpPr/>
          <p:nvPr/>
        </p:nvSpPr>
        <p:spPr>
          <a:xfrm>
            <a:off x="914400" y="1737360"/>
            <a:ext cx="4845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E8C8B"/>
                </a:solidFill>
                <a:effectLst/>
                <a:uFillTx/>
                <a:latin typeface="Calibri"/>
                <a:ea typeface="Calibri"/>
              </a:rPr>
              <a:t>Модели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4"/>
          <p:cNvSpPr/>
          <p:nvPr/>
        </p:nvSpPr>
        <p:spPr>
          <a:xfrm>
            <a:off x="914400" y="2148840"/>
            <a:ext cx="484560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4000"/>
              </a:lnSpc>
              <a:spcAft>
                <a:spcPts val="1001"/>
              </a:spcAft>
              <a:tabLst>
                <a:tab pos="0" algn="l"/>
              </a:tabLst>
            </a:pPr>
            <a:r>
              <a:rPr lang="en-US" sz="1350" b="1" u="none" strike="noStrike">
                <a:solidFill>
                  <a:srgbClr val="0F2A43"/>
                </a:solidFill>
                <a:effectLst/>
                <a:uFillTx/>
                <a:latin typeface="Calibri"/>
                <a:ea typeface="Calibri"/>
              </a:rPr>
              <a:t>Концептуальная — </a:t>
            </a:r>
            <a:r>
              <a:rPr lang="en-US" sz="1350" b="0" u="none" strike="noStrike">
                <a:solidFill>
                  <a:srgbClr val="0F2A43"/>
                </a:solidFill>
                <a:effectLst/>
                <a:uFillTx/>
                <a:latin typeface="Calibri"/>
                <a:ea typeface="Calibri"/>
              </a:rPr>
              <a:t>UML-диаграмма деятельности цикла синхронизации (clone → перекрытие → загрузка → обновление → фиксация границы).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4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F2A43"/>
                </a:solidFill>
                <a:effectLst/>
                <a:uFillTx/>
                <a:latin typeface="Calibri"/>
                <a:ea typeface="Calibri"/>
              </a:rPr>
              <a:t>Логическая — </a:t>
            </a:r>
            <a:r>
              <a:rPr lang="en-US" sz="1350" b="0" u="none" strike="noStrike">
                <a:solidFill>
                  <a:srgbClr val="0F2A43"/>
                </a:solidFill>
                <a:effectLst/>
                <a:uFillTx/>
                <a:latin typeface="Calibri"/>
                <a:ea typeface="Calibri"/>
              </a:rPr>
              <a:t>ER-модель: источник → промежуточная таблица (клон) → целевая таблица; ключ слияния id, партиционирование и кластеризация.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5"/>
          <p:cNvSpPr/>
          <p:nvPr/>
        </p:nvSpPr>
        <p:spPr>
          <a:xfrm>
            <a:off x="6263640" y="1600200"/>
            <a:ext cx="5394240" cy="3382560"/>
          </a:xfrm>
          <a:prstGeom prst="roundRect">
            <a:avLst>
              <a:gd name="adj" fmla="val 2703"/>
            </a:avLst>
          </a:prstGeom>
          <a:solidFill>
            <a:srgbClr val="F4F8FB"/>
          </a:solidFill>
          <a:ln w="12700">
            <a:solidFill>
              <a:srgbClr val="C9D6E2"/>
            </a:solidFill>
            <a:round/>
          </a:ln>
          <a:effectLst>
            <a:outerShdw algn="bl" blurRad="114480" dir="5400000" dist="38160" kx="0" ky="0" rotWithShape="0" sx="100000" sy="100000">
              <a:srgbClr val="9FB3C8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6"/>
          <p:cNvSpPr/>
          <p:nvPr/>
        </p:nvSpPr>
        <p:spPr>
          <a:xfrm>
            <a:off x="6537960" y="1737360"/>
            <a:ext cx="4845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6D5BA6"/>
                </a:solidFill>
                <a:effectLst/>
                <a:uFillTx/>
                <a:latin typeface="Calibri"/>
                <a:ea typeface="Calibri"/>
              </a:rPr>
              <a:t>Требования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7"/>
          <p:cNvSpPr/>
          <p:nvPr/>
        </p:nvSpPr>
        <p:spPr>
          <a:xfrm>
            <a:off x="6537960" y="2148840"/>
            <a:ext cx="484560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2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350" b="1" u="none" strike="noStrike">
                <a:solidFill>
                  <a:srgbClr val="0F2A43"/>
                </a:solidFill>
                <a:effectLst/>
                <a:uFillTx/>
                <a:latin typeface="Calibri"/>
                <a:ea typeface="Calibri"/>
              </a:rPr>
              <a:t>Функциональные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  <a:spcAft>
                <a:spcPts val="1001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33475B"/>
                </a:solidFill>
                <a:effectLst/>
                <a:uFillTx/>
                <a:latin typeface="Calibri"/>
                <a:ea typeface="Calibri"/>
              </a:rPr>
              <a:t>инкрементальный перенос; перекрытие окна; промежуточная таблица клонированием; атомарная замена / слияние; resync по ID и дате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350" b="1" u="none" strike="noStrike">
                <a:solidFill>
                  <a:srgbClr val="0F2A43"/>
                </a:solidFill>
                <a:effectLst/>
                <a:uFillTx/>
                <a:latin typeface="Calibri"/>
                <a:ea typeface="Calibri"/>
              </a:rPr>
              <a:t>Нефункциональные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475B"/>
                </a:solidFill>
                <a:effectLst/>
                <a:uFillTx/>
                <a:latin typeface="Calibri"/>
                <a:ea typeface="Calibri"/>
              </a:rPr>
              <a:t>непрерывная доступность; полнота и сохранность; идемпотентность; согласованность; масштабируемость; наблюдаемость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8"/>
          <p:cNvSpPr/>
          <p:nvPr/>
        </p:nvSpPr>
        <p:spPr>
          <a:xfrm>
            <a:off x="640080" y="647388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Деменков И.М. · гр. 12-25 РПмз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9"/>
          <p:cNvSpPr/>
          <p:nvPr/>
        </p:nvSpPr>
        <p:spPr>
          <a:xfrm>
            <a:off x="11091600" y="647388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B6B7B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0"/>
          <p:cNvSpPr/>
          <p:nvPr/>
        </p:nvSpPr>
        <p:spPr>
          <a:xfrm>
            <a:off x="-1188720" y="4023360"/>
            <a:ext cx="4937040" cy="4937040"/>
          </a:xfrm>
          <a:prstGeom prst="roundRect">
            <a:avLst>
              <a:gd name="adj" fmla="val 7407"/>
            </a:avLst>
          </a:prstGeom>
          <a:solidFill>
            <a:srgbClr val="0E8C8B">
              <a:alpha val="1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"/>
          <p:cNvSpPr/>
          <p:nvPr/>
        </p:nvSpPr>
        <p:spPr>
          <a:xfrm>
            <a:off x="640080" y="640080"/>
            <a:ext cx="10972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98" strike="noStrike">
                <a:solidFill>
                  <a:srgbClr val="8FE3D6"/>
                </a:solidFill>
                <a:effectLst/>
                <a:uFillTx/>
                <a:latin typeface="Calibri"/>
                <a:ea typeface="Calibri"/>
              </a:rPr>
              <a:t>РЕЗУЛЬТАТЫ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"/>
          <p:cNvSpPr/>
          <p:nvPr/>
        </p:nvSpPr>
        <p:spPr>
          <a:xfrm>
            <a:off x="640080" y="960120"/>
            <a:ext cx="109720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entury Schoolbook"/>
                <a:ea typeface="Century Schoolbook"/>
              </a:rPr>
              <a:t>Выводы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3"/>
          <p:cNvSpPr/>
          <p:nvPr/>
        </p:nvSpPr>
        <p:spPr>
          <a:xfrm>
            <a:off x="640080" y="1920240"/>
            <a:ext cx="10606320" cy="30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16000"/>
              </a:lnSpc>
              <a:spcAft>
                <a:spcPts val="1001"/>
              </a:spcAft>
              <a:buClr>
                <a:srgbClr val="EAF2F8"/>
              </a:buClr>
              <a:buFont typeface="Symbol" charset="2"/>
              <a:buChar char=""/>
            </a:pPr>
            <a:r>
              <a:rPr lang="en-US" sz="1650" b="0" u="none" strike="noStrike">
                <a:solidFill>
                  <a:srgbClr val="EAF2F8"/>
                </a:solidFill>
                <a:effectLst/>
                <a:uFillTx/>
                <a:latin typeface="Calibri"/>
                <a:ea typeface="Calibri"/>
              </a:rPr>
              <a:t>Проведён аналитический обзор и поставлена научная задача с выявленными ограничениями существующих подходов.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16000"/>
              </a:lnSpc>
              <a:spcAft>
                <a:spcPts val="1001"/>
              </a:spcAft>
              <a:buClr>
                <a:srgbClr val="EAF2F8"/>
              </a:buClr>
              <a:buFont typeface="Symbol" charset="2"/>
              <a:buChar char=""/>
            </a:pPr>
            <a:r>
              <a:rPr lang="en-US" sz="1650" b="0" u="none" strike="noStrike">
                <a:solidFill>
                  <a:srgbClr val="EAF2F8"/>
                </a:solidFill>
                <a:effectLst/>
                <a:uFillTx/>
                <a:latin typeface="Calibri"/>
                <a:ea typeface="Calibri"/>
              </a:rPr>
              <a:t>Обоснован выбор подхода к оптимизации и сформулированы функциональные и нефункциональные требования.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16000"/>
              </a:lnSpc>
              <a:spcAft>
                <a:spcPts val="1001"/>
              </a:spcAft>
              <a:buClr>
                <a:srgbClr val="EAF2F8"/>
              </a:buClr>
              <a:buFont typeface="Symbol" charset="2"/>
              <a:buChar char=""/>
            </a:pPr>
            <a:r>
              <a:rPr lang="en-US" sz="1650" b="0" u="none" strike="noStrike">
                <a:solidFill>
                  <a:srgbClr val="EAF2F8"/>
                </a:solidFill>
                <a:effectLst/>
                <a:uFillTx/>
                <a:latin typeface="Calibri"/>
                <a:ea typeface="Calibri"/>
              </a:rPr>
              <a:t>Разработаны и формализованы средствами UML/ER концептуальная и логическая модели оптимизированной синхронизации.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16000"/>
              </a:lnSpc>
              <a:buClr>
                <a:srgbClr val="EAF2F8"/>
              </a:buClr>
              <a:buFont typeface="Symbol" charset="2"/>
              <a:buChar char=""/>
            </a:pPr>
            <a:r>
              <a:rPr lang="en-US" sz="1650" b="0" u="none" strike="noStrike">
                <a:solidFill>
                  <a:srgbClr val="EAF2F8"/>
                </a:solidFill>
                <a:effectLst/>
                <a:uFillTx/>
                <a:latin typeface="Calibri"/>
                <a:ea typeface="Calibri"/>
              </a:rPr>
              <a:t>Выполнен анализ свойств, ограничений и областей применимости; обоснованы преимущества перед аналогами.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4"/>
          <p:cNvSpPr/>
          <p:nvPr/>
        </p:nvSpPr>
        <p:spPr>
          <a:xfrm>
            <a:off x="640080" y="5394960"/>
            <a:ext cx="106063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B9D2E6"/>
                </a:solidFill>
                <a:effectLst/>
                <a:uFillTx/>
                <a:latin typeface="Calibri"/>
                <a:ea typeface="Calibri"/>
              </a:rPr>
              <a:t>Разработанные модели образуют теоретическую основу предложенного метода оптимизации.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5"/>
          <p:cNvSpPr/>
          <p:nvPr/>
        </p:nvSpPr>
        <p:spPr>
          <a:xfrm>
            <a:off x="640080" y="6035040"/>
            <a:ext cx="106063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entury Schoolbook"/>
                <a:ea typeface="Century Schoolbook"/>
              </a:rPr>
              <a:t>Спасибо за внимание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</TotalTime>
  <Application>LibreOffice/26.2.3.2$MacOSX_X86_64 LibreOffice_project/70e089b17412e4cb7773e41413306b17a2328c34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2026-06-10T09:33:26Z</dcterms:created>
  <dc:creator>Деменков И.М.</dc:creator>
  <dc:description/>
  <dc:language>en-US</dc:language>
  <cp:lastModifiedBy/>
  <dcterms:modified xsi:type="dcterms:W3CDTF">2026-06-15T13:45:11Z</dcterms:modified>
  <cp:revision>3</cp:revision>
  <dc:subject>PptxGenJS Presentation</dc:subject>
  <dc:title>Методы оптимизации хранения и обработки данных — Деменков И.М.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</vt:i4>
  </property>
  <property fmtid="{D5CDD505-2E9C-101B-9397-08002B2CF9AE}" pid="3" name="PresentationFormat">
    <vt:lpwstr>On-screen Show (16:9)</vt:lpwstr>
  </property>
  <property fmtid="{D5CDD505-2E9C-101B-9397-08002B2CF9AE}" pid="4" name="Slides">
    <vt:i4>8</vt:i4>
  </property>
</Properties>
</file>