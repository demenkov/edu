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НИР за 2 семестр — теоретико-аналитический этап. Кратко представить тему и научного руководителя, перейти к актуальности.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 построена от общего к частному: значимость аналитики и облачных хранилищ → нетривиальность интеграции разнородных источников → незакрытость задачи оптимизации. Затем объект и предмет.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и семь задач 2 семестра — строго по индивидуальному заданию (теоретико-аналитический этап). Подчеркнуть, что реализация и эксперимент — задача 3 семестра.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взаимосвязанные проблемы — мотивация работы. Это иллюстрация нерешённости, конкретика по DELETE+INSERT. Дальше — предлагаемый подход.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подхода: клонирование целевой в temp, чтение хвоста с перекрытием, загрузка в temp, затем атомарная замена (штатно) или слияние без удаления (resync). Перекрытие окна решает пропуск строк, атомарность — окно недоступности.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Партиционирование по дню, кластеризация по домену. Ключевое проектное решение: вместо копирования данных в датасет каждого клиента (n+1 копий, риск рассинхрона) доступ клиентов организуется через материализованные представления к общему датасету.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Концептуальная модель — UML activity; логическая — ER. Требования разделены на функциональные и нефункциональные. UML/ER — это и есть формализация по заданию.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строго по заданию: обзор + постановка, обоснование подхода, требования, UML/ER модели, анализ свойств и преимуществ. Реализация и эксперимент — 3 семестр (если спросят).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097280"/>
            <a:ext cx="4754880" cy="4754880"/>
          </a:xfrm>
          <a:prstGeom prst="roundRect">
            <a:avLst>
              <a:gd name="adj" fmla="val 7692"/>
            </a:avLst>
          </a:prstGeom>
          <a:solidFill>
            <a:srgbClr val="0E8C8B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291840"/>
            <a:ext cx="4206240" cy="4206240"/>
          </a:xfrm>
          <a:prstGeom prst="roundRect">
            <a:avLst>
              <a:gd name="adj" fmla="val 8696"/>
            </a:avLst>
          </a:prstGeom>
          <a:solidFill>
            <a:srgbClr val="6D5BA6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НАУЧНО-ИССЛЕДОВАТЕЛЬСКАЯ РАБОТА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Методы оптимизации хранения и обработки данных при синхронизации разнородных источников с аналитическим хранилищем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теоретико-аналитический этап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Деменков И.М., группа 12-25 РПмз, 09.04.04 «Программная инженерия»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д.т.н., профессор Гришин И.Ю.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Контекст и фокус работы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6583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объёмов данных и роль аналитики повышают требования к наполнению облачных колоночных хранилищ — по стоимости, скорости, согласованности и доступности данных.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разнородных источников (реляционных и документоориентированных СУБД) с единым хранилищем остаётся нетривиальной задачей.</a:t>
            </a:r>
            <a:endParaRPr lang="en-US" sz="16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60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 подходы к инкрементальной синхронизации не всегда дают одновременно непрерывную доступность, полноту и приемлемую стоимость.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0" y="155448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0100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01000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Процессы хранения и обработки данных при синхронизации разнородных источников с аналитическим хранилищем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0" y="320040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001000" y="33375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01000" y="3657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Модели, методы и средства оптимизации хранения и обработки данных для повышения производительности аналитических запросов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Деменков И.М. · гр. 12-25 РПмз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167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Цель и задачи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EAF2F7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526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аналитический обзор подходов к синхронизации разнородных источников с аналитическим хранилищем, обосновать выбор подхода и разработать концептуальную и логическую модели оптимизированной синхронизации.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35040" y="1554480"/>
            <a:ext cx="55321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99632" y="1682496"/>
            <a:ext cx="292608" cy="292608"/>
          </a:xfrm>
          <a:prstGeom prst="ellipse">
            <a:avLst/>
          </a:prstGeom>
          <a:solidFill>
            <a:srgbClr val="0E8C8B"/>
          </a:solidFill>
          <a:ln/>
        </p:spPr>
      </p:sp>
      <p:sp>
        <p:nvSpPr>
          <p:cNvPr id="9" name="Text 7"/>
          <p:cNvSpPr/>
          <p:nvPr/>
        </p:nvSpPr>
        <p:spPr>
          <a:xfrm>
            <a:off x="6199632" y="1682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01968" y="1554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и сравнительный анализ стратегий загрузки; выявить ограничения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2148840"/>
            <a:ext cx="55321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99632" y="2276856"/>
            <a:ext cx="292608" cy="292608"/>
          </a:xfrm>
          <a:prstGeom prst="ellipse">
            <a:avLst/>
          </a:prstGeom>
          <a:solidFill>
            <a:srgbClr val="6D5BA6"/>
          </a:solidFill>
          <a:ln/>
        </p:spPr>
      </p:sp>
      <p:sp>
        <p:nvSpPr>
          <p:cNvPr id="13" name="Text 11"/>
          <p:cNvSpPr/>
          <p:nvPr/>
        </p:nvSpPr>
        <p:spPr>
          <a:xfrm>
            <a:off x="6199632" y="2276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01968" y="21488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научной задачи исследования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2743200"/>
            <a:ext cx="55321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9632" y="2871216"/>
            <a:ext cx="292608" cy="292608"/>
          </a:xfrm>
          <a:prstGeom prst="ellipse">
            <a:avLst/>
          </a:prstGeom>
          <a:solidFill>
            <a:srgbClr val="0E8C8B"/>
          </a:solidFill>
          <a:ln/>
        </p:spPr>
      </p:sp>
      <p:sp>
        <p:nvSpPr>
          <p:cNvPr id="17" name="Text 15"/>
          <p:cNvSpPr/>
          <p:nvPr/>
        </p:nvSpPr>
        <p:spPr>
          <a:xfrm>
            <a:off x="6199632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01968" y="27432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Обоснование выбора подхода к оптимизации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35040" y="3337560"/>
            <a:ext cx="55321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3465576"/>
            <a:ext cx="292608" cy="292608"/>
          </a:xfrm>
          <a:prstGeom prst="ellipse">
            <a:avLst/>
          </a:prstGeom>
          <a:solidFill>
            <a:srgbClr val="6D5BA6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01968" y="3337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Функциональные и нефункциональные требования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035040" y="3931920"/>
            <a:ext cx="55321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99632" y="4059936"/>
            <a:ext cx="292608" cy="292608"/>
          </a:xfrm>
          <a:prstGeom prst="ellipse">
            <a:avLst/>
          </a:prstGeom>
          <a:solidFill>
            <a:srgbClr val="0E8C8B"/>
          </a:solidFill>
          <a:ln/>
        </p:spPr>
      </p:sp>
      <p:sp>
        <p:nvSpPr>
          <p:cNvPr id="25" name="Text 23"/>
          <p:cNvSpPr/>
          <p:nvPr/>
        </p:nvSpPr>
        <p:spPr>
          <a:xfrm>
            <a:off x="6199632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01968" y="39319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Концептуальная и логическая модели (UML/ER)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035040" y="4526280"/>
            <a:ext cx="553212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99632" y="4654296"/>
            <a:ext cx="292608" cy="292608"/>
          </a:xfrm>
          <a:prstGeom prst="ellipse">
            <a:avLst/>
          </a:prstGeom>
          <a:solidFill>
            <a:srgbClr val="6D5BA6"/>
          </a:solidFill>
          <a:ln/>
        </p:spPr>
      </p:sp>
      <p:sp>
        <p:nvSpPr>
          <p:cNvPr id="29" name="Text 27"/>
          <p:cNvSpPr/>
          <p:nvPr/>
        </p:nvSpPr>
        <p:spPr>
          <a:xfrm>
            <a:off x="6199632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01968" y="45262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свойств, ограничений и преимуществ перед аналогами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Деменков И.М. · гр. 12-25 РПмз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167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Ключевые проблемы инкрементальной синхронизации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57400"/>
            <a:ext cx="566928" cy="566928"/>
          </a:xfrm>
          <a:prstGeom prst="ellipse">
            <a:avLst/>
          </a:prstGeom>
          <a:solidFill>
            <a:srgbClr val="0E8C8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!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2788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Окно недоступности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схеме DELETE + INSERT между удалением «хвоста» и вставкой данные временно отсутствуют — запросы возвращают неполный результат.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71416" y="173736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91456" y="2057400"/>
            <a:ext cx="566928" cy="566928"/>
          </a:xfrm>
          <a:prstGeom prst="ellipse">
            <a:avLst/>
          </a:prstGeom>
          <a:solidFill>
            <a:srgbClr val="6D5BA6"/>
          </a:solidFill>
          <a:ln/>
        </p:spPr>
      </p:sp>
      <p:sp>
        <p:nvSpPr>
          <p:cNvPr id="11" name="Text 9"/>
          <p:cNvSpPr/>
          <p:nvPr/>
        </p:nvSpPr>
        <p:spPr>
          <a:xfrm>
            <a:off x="479145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91456" y="2788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Пропуск строк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91456" y="33375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Транзакция с большим ID может зафиксироваться раньше, чем с меньшим; курсор по max(id) «перешагивает» незафиксированную строку.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73736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22792" y="2057400"/>
            <a:ext cx="566928" cy="566928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6" name="Text 14"/>
          <p:cNvSpPr/>
          <p:nvPr/>
        </p:nvSpPr>
        <p:spPr>
          <a:xfrm>
            <a:off x="8622792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!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622792" y="2788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Согласованность чтений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22792" y="33375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Неполные промежуточные состояния таблицы нарушают согласованность аналитических выборок (свойства ACID).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Деменков И.М. · гр. 12-25 РПмз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167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ПРЕДЛАГАЕМЫЙ ПОДХОД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Промежуточная таблица и атомарное обновление</a:t>
            </a:r>
            <a:endParaRPr lang="en-US" sz="2800" dirty="0"/>
          </a:p>
        </p:txBody>
      </p:sp>
      <p:pic>
        <p:nvPicPr>
          <p:cNvPr id="4" name="Image 0" descr="/home/claude/sl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600200"/>
            <a:ext cx="10972800" cy="376274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682987"/>
            <a:ext cx="5394960" cy="91440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5682987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окна недоступности —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 крупными блоками без перезаписи на месте.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63640" y="5682987"/>
            <a:ext cx="5394960" cy="91440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5682987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пропуска строк —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перечитывание перекрывающегося трейлингового окна (2 ч).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Деменков И.М. · гр. 12-25 РПмз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167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МЕТОДЫ ОПТИМИЗАЦИИ ХРАНЕНИЯ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Партиционирование, кластеризация и материализованные представления</a:t>
            </a:r>
            <a:endParaRPr lang="en-US" sz="2800" dirty="0"/>
          </a:p>
        </p:txBody>
      </p:sp>
      <p:pic>
        <p:nvPicPr>
          <p:cNvPr id="4" name="Image 0" descr="/home/claude/sl_m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156" y="1554480"/>
            <a:ext cx="9692640" cy="40203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757716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Партиционирование по дню (created_at) и кластеризация по домену клиента — </a:t>
            </a:r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сканируемых данных и стоимость запросов. Доступ клиентов — через MV к общему датасету вместо копирования: одна копия вместо n + 1, быстрее загрузка.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Деменков И.М. · гр. 12-25 РПмз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9167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И ТРЕБОВАНИЯ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4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Формализация средствами UML/ER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Концептуальная — </a:t>
            </a:r>
            <a:pPr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UML-диаграмма деятельности цикла синхронизации (clone → перекрытие → загрузка → обновление → фиксация границы).</a:t>
            </a:r>
            <a:endParaRPr lang="en-US" sz="13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Логическая — </a:t>
            </a:r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ER-модель: источник → промежуточная таблица (клон) → целевая таблица; ключ слияния id, партиционирование и кластеризация.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F4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Функциональные</a:t>
            </a:r>
            <a:endParaRPr lang="en-US" sz="135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инкрементальный перенос; перекрытие окна; промежуточная таблица клонированием; атомарная замена / слияние; resync по ID и дате</a:t>
            </a:r>
            <a:endParaRPr lang="en-US" sz="135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Нефункциональные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непрерывная доступность; полнота и сохранность; идемпотентность; согласованность; масштабируемость; наблюдаемость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Деменков И.М. · гр. 12-25 РПмз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167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023360"/>
            <a:ext cx="4937760" cy="4937760"/>
          </a:xfrm>
          <a:prstGeom prst="roundRect">
            <a:avLst>
              <a:gd name="adj" fmla="val 7407"/>
            </a:avLst>
          </a:prstGeom>
          <a:solidFill>
            <a:srgbClr val="0E8C8B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Выводы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07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6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Проведён аналитический обзор и поставлена научная задача с выявленными ограничениями существующих подходов.</a:t>
            </a:r>
            <a:endParaRPr lang="en-US" sz="1650" dirty="0"/>
          </a:p>
          <a:p>
            <a:pPr marL="342900" indent="-342900">
              <a:lnSpc>
                <a:spcPct val="116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 выбор подхода к оптимизации и сформулированы функциональные и нефункциональные требования.</a:t>
            </a:r>
            <a:endParaRPr lang="en-US" sz="1650" dirty="0"/>
          </a:p>
          <a:p>
            <a:pPr marL="342900" indent="-342900">
              <a:lnSpc>
                <a:spcPct val="116000"/>
              </a:lnSpc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Разработаны и формализованы средствами UML/ER концептуальная и логическая модели оптимизированной синхронизации.</a:t>
            </a:r>
            <a:endParaRPr lang="en-US" sz="165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6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 анализ свойств, ограничений и областей применимости; обоснованы преимущества перед аналогами.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9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Разработанные модели образуют теоретическую основу предложенного метода оптимизации.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Спасибо за внимание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Методы оптимизации хранения и обработки данных — Деменков И.М.</dc:title>
  <dc:subject>PptxGenJS Presentation</dc:subject>
  <dc:creator>Деменков И.М.</dc:creator>
  <cp:lastModifiedBy>Деменков И.М.</cp:lastModifiedBy>
  <cp:revision>1</cp:revision>
  <dcterms:created xsi:type="dcterms:W3CDTF">2026-06-10T09:33:26Z</dcterms:created>
  <dcterms:modified xsi:type="dcterms:W3CDTF">2026-06-10T09:33:26Z</dcterms:modified>
</cp:coreProperties>
</file>