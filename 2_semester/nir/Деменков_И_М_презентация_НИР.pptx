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37FABE2-E1EB-4E7B-A052-EAC85DBFDBF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Здравствуйте! Меня зовут Деменков Иван, группа 12-25 РПмз. Тема моей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научно-исследовательской работы — «Методы оптимизации хранения и обработки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данных при синхронизации разнородных источников с аналитическим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хранилищем». Научный руководитель — доктор технических наук, профессор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Гришин Игорь Юрьевич.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Это теоретико-аналитический этап исследования. Если коротко, работа о том,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как эффективно и без потерь переносить данные из разных источников в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единое аналитическое хранилище и оптимизировать их хранение и обработку.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4FA9B5-1FF6-428E-9F1A-3DA06159C4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Почему эта тема актуальна. Объёмы данных постоянно растут, 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аналитика всё сильнее влияет на принятие решений. Из-за этого повышаются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требования к тому, как наполняются облачные аналитические хранилища — это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вопросы стоимости и скорости обработки запросов, согласованности 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непрерывной доступности данных.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При этом данные приходят из разнородных источников — и реляционных, 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документоориентированных баз данных, — а собрать их нужно в одном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хранилище. Это нетривиальная задача: существующие подходы к инкрементальной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синхронизации не всегда обеспечивают одновременно непрерывную доступность,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полноту данных и приемлемую стоимость обработки. Именно эта незакрытость 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определяет тему работы.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275B4-2B94-4466-A3A2-F64C561707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Цель работы на этом этапе — провести аналитический обзор подходов к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синхронизации, обосновать выбор подхода к оптимизации и разработать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концептуальную и логическую модели оптимизированной синхронизации.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D72A8D-2C83-4F34-A2FB-5DE3BC9DA9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Я выделил три взаимосвязанные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проблемы.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Первая — окно недоступности. В распространённой схеме «удаление и вставка»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(DELETE + INSERT) сначала удаляется часть данных за последние часы, а потом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загружается свежая порция. В промежутке этих данных в таблице физически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нет, и аналитические запросы возвращают неполный результат.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Вторая — пропуск строк. Когда изменения отслеживаются по возрастающему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идентификатору, транзакция с большим ID может зафиксироваться раньше, чем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транзакция с меньшим. В результате курсор, который опирается на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максимальный ID, «перешагивает» ещё не зафиксированную строку, и она не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попадает в хранилище.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Третья — согласованность чтений: неполные промежуточные состояния таблицы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нарушают согласованность аналитических выборок.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Эти три проблемы и определяют, каким должен быть предлагаемый подход.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FDF7ED-F06F-4872-ADAC-66E294B9DA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Предлагаемый подход. состоит из четырёх шагов.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Сначала целевая таблица клонируется во временную — клон сохраняет её схему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 разбиение. Затем из источника читается «хвост» данных с перекрытием 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примерно за последние два часа. Прочитанный инкремент загружается во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временную таблицу. И только потом обновляется целевая таблица.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Обновление выполняется двумя способами. В штатном режиме — это атомарная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замена «хвоста»: всё происходит одной транзакцией, поэтому пользователи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никогда не видят промежуточного неполного состояния. А для повторной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синхронизации, когда нужно скорректировать или добрать данные, применяется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слияние по ключу без удаления строк.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Что это даёт. Во-первых, нет окна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недоступности — данные обновляются крупными блоками, без перезаписи на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месте. Во-вторых, нет пропуска строк — за счёт перекрытия трейлингового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окна «опоздавшие» по порядку фиксации строки всё равно попадают в хранилище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 следующем цикле.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4B274F-0987-4ED9-8336-6763BB40AB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Помимо самого процесса синхронизации, оптимизируется и хранение. Целевые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таблицы разбиваются по дню — по дате создания записи — и кластеризуются по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домену клиента. Это ограничивает объём данных, который сканируется при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обновлении и при аналитических запросах, и снижает их стоимость.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Отдельно отмечу решение по доступу клиентов. Доступ можно организовать двумя способами. При первом данные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копируются в отдельный датасет каждого клиента — тогда хранится n + 1 копий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одних и тех же данных, и при сбоях хранилища копии могут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рассинхронизироваться.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 предлагаемом подходе данные загружаются только в общий датасет, а каждый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клиент обращается к своим данным через материализованное представление в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своём датасете. В итоге хранится одна копия данных, загрузка быстрее, 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данные у всех клиентов согласованы.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A8A34-6E2A-4784-A16D-8E642716B1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Подход формализован двумя моделями.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Концептуальная модель — это UML-диаграмма деятельности, которая описывает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цикл синхронизации: клонирование, чтение с перекрытием, загрузку,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обновление целевой таблицы и фиксацию границы синхронизации.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Логическая модель — это ER-модель данных: источник, промежуточная таблица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как клон целевой и сама целевая таблица. Связаны они по ключу слияния 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идентификатору, плюс задаётся партиционирование и кластеризация.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Также сформулированы требования — функциональные, то есть что система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должна делать, и нефункциональные: непрерывная доступность, полнота 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сохранность данных, идемпотентность, согласованность, масштабируемость 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наблюдаемость.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BB231E-889B-4E56-AA3E-7E6B9D7FA7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Подведу итог. В работе проведён аналитический обзор и поставлена научная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задача с выявленными ограничениями существующих подходов. Обоснован выбор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подхода к оптимизации и сформулированы функциональные и нефункциональные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требования. Разработаны и формализованы средствами UML и ER концептуальная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 логическая модели оптимизированной синхронизации. Наконец, выполнен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анализ свойств, ограничений и областей применимости и обоснованы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преимущества перед известными аналогами.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Разработанные модели образуют теоретическую основу предложенного метода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оптимизации.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Спасибо за внимание! Готов ответить на вопросы.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3AAC9A-78BE-4870-B413-AA914BCC6F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869680" y="-1097280"/>
            <a:ext cx="4754520" cy="4754520"/>
          </a:xfrm>
          <a:prstGeom prst="roundRect">
            <a:avLst>
              <a:gd name="adj" fmla="val 7692"/>
            </a:avLst>
          </a:prstGeom>
          <a:solidFill>
            <a:srgbClr val="0e8c8b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875520" y="3291840"/>
            <a:ext cx="4205880" cy="4205880"/>
          </a:xfrm>
          <a:prstGeom prst="roundRect">
            <a:avLst>
              <a:gd name="adj" fmla="val 8696"/>
            </a:avLst>
          </a:prstGeom>
          <a:solidFill>
            <a:srgbClr val="6d5ba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13716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8fe3d6"/>
                </a:solidFill>
                <a:latin typeface="Calibri"/>
                <a:ea typeface="Calibri"/>
              </a:rPr>
              <a:t>НАУЧНО-ИССЛЕДОВАТЕЛЬСКАЯ РАБОТА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182880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3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Методы оптимизации хранения и обработки данных при синхронизации разнородных источников с аналитическим хранилищем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41148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adcec"/>
                </a:solidFill>
                <a:latin typeface="Calibri"/>
                <a:ea typeface="Calibri"/>
              </a:rPr>
              <a:t>теоретико-аналитический этап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52120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4edf5"/>
                </a:solidFill>
                <a:latin typeface="Calibri"/>
                <a:ea typeface="Calibri"/>
              </a:rPr>
              <a:t>Выполнил: Деменков И.М., группа 12-25 РПмз, 09.04.04 «Программная инженерия»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4edf5"/>
                </a:solidFill>
                <a:latin typeface="Calibri"/>
                <a:ea typeface="Calibri"/>
              </a:rPr>
              <a:t>Научный руководитель: д.т.н., профессор Гришин И.Ю.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40080" y="3841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c8b"/>
                </a:solidFill>
                <a:latin typeface="Calibri"/>
                <a:ea typeface="Calibri"/>
              </a:rPr>
              <a:t>ВВЕДЕНИЕ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40080" y="6584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Контекст и фокус работы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40080" y="1554480"/>
            <a:ext cx="658332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12000"/>
              </a:lnSpc>
              <a:spcAft>
                <a:spcPts val="799"/>
              </a:spcAft>
              <a:buClr>
                <a:srgbClr val="0f2a43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f2a43"/>
                </a:solidFill>
                <a:latin typeface="Calibri"/>
                <a:ea typeface="Calibri"/>
              </a:rPr>
              <a:t>Рост объёмов данных и роль аналитики повышают требования к наполнению облачных колоночных хранилищ — по стоимости, скорости, согласованности и доступности данных.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799"/>
              </a:spcAft>
              <a:buClr>
                <a:srgbClr val="0f2a43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f2a43"/>
                </a:solidFill>
                <a:latin typeface="Calibri"/>
                <a:ea typeface="Calibri"/>
              </a:rPr>
              <a:t>Интеграция разнородных источников (реляционных и документоориентированных СУБД) с единым хранилищем остаётся нетривиальной задачей.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buClr>
                <a:srgbClr val="0f2a43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f2a43"/>
                </a:solidFill>
                <a:latin typeface="Calibri"/>
                <a:ea typeface="Calibri"/>
              </a:rPr>
              <a:t>Существующие подходы к инкрементальной синхронизации не всегда дают одновременно непрерывную доступность, полноту и приемлемую стоимость.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7772400" y="1554480"/>
            <a:ext cx="3748680" cy="1462680"/>
          </a:xfrm>
          <a:prstGeom prst="roundRect">
            <a:avLst>
              <a:gd name="adj" fmla="val 6250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001000" y="169164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8c8b"/>
                </a:solidFill>
                <a:latin typeface="Calibri"/>
                <a:ea typeface="Calibri"/>
              </a:rPr>
              <a:t>Объект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8001000" y="201168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f2a43"/>
                </a:solidFill>
                <a:latin typeface="Calibri"/>
                <a:ea typeface="Calibri"/>
              </a:rPr>
              <a:t>Процессы хранения и обработки данных при синхронизации разнородных источников с аналитическим хранилищем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7772400" y="3200400"/>
            <a:ext cx="3748680" cy="1462680"/>
          </a:xfrm>
          <a:prstGeom prst="roundRect">
            <a:avLst>
              <a:gd name="adj" fmla="val 6250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8001000" y="333756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d5ba6"/>
                </a:solidFill>
                <a:latin typeface="Calibri"/>
                <a:ea typeface="Calibri"/>
              </a:rPr>
              <a:t>Предмет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8001000" y="365760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f2a43"/>
                </a:solidFill>
                <a:latin typeface="Calibri"/>
                <a:ea typeface="Calibri"/>
              </a:rPr>
              <a:t>Модели, методы и средства оптимизации хранения и обработки данных для повышения производительности аналитических запросов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4008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Деменков И.М. · гр. 12-25 РПмз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110916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640080" y="3841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c8b"/>
                </a:solidFill>
                <a:latin typeface="Calibri"/>
                <a:ea typeface="Calibri"/>
              </a:rPr>
              <a:t>ВВЕДЕНИЕ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640080" y="6584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Цель и задачи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640080" y="1554480"/>
            <a:ext cx="5028840" cy="3565800"/>
          </a:xfrm>
          <a:prstGeom prst="roundRect">
            <a:avLst>
              <a:gd name="adj" fmla="val 2564"/>
            </a:avLst>
          </a:prstGeom>
          <a:solidFill>
            <a:srgbClr val="eaf2f7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914400" y="17373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e8c8b"/>
                </a:solidFill>
                <a:latin typeface="Calibri"/>
                <a:ea typeface="Calibri"/>
              </a:rPr>
              <a:t>Цель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914400" y="2148840"/>
            <a:ext cx="45259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2a43"/>
                </a:solidFill>
                <a:latin typeface="Calibri"/>
                <a:ea typeface="Calibri"/>
              </a:rPr>
              <a:t>Провести аналитический обзор подходов к синхронизации разнородных источников с аналитическим хранилищем, обосновать выбор подхода и разработать концептуальную и логическую модели оптимизированной синхронизации.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6035040" y="1554480"/>
            <a:ext cx="553176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6199560" y="1682640"/>
            <a:ext cx="292320" cy="292320"/>
          </a:xfrm>
          <a:prstGeom prst="ellipse">
            <a:avLst/>
          </a:prstGeom>
          <a:solidFill>
            <a:srgbClr val="0e8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6199560" y="16826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6602040" y="155448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f2a43"/>
                </a:solidFill>
                <a:latin typeface="Calibri"/>
                <a:ea typeface="Calibri"/>
              </a:rPr>
              <a:t>Обзор и сравнительный анализ стратегий загрузки; выявить ограничения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6035040" y="2148840"/>
            <a:ext cx="553176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6199560" y="2277000"/>
            <a:ext cx="292320" cy="292320"/>
          </a:xfrm>
          <a:prstGeom prst="ellipse">
            <a:avLst/>
          </a:prstGeom>
          <a:solidFill>
            <a:srgbClr val="6d5b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6199560" y="2277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6602040" y="214884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f2a43"/>
                </a:solidFill>
                <a:latin typeface="Calibri"/>
                <a:ea typeface="Calibri"/>
              </a:rPr>
              <a:t>Постановка научной задачи исследования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6035040" y="2743200"/>
            <a:ext cx="553176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6199560" y="2871360"/>
            <a:ext cx="292320" cy="292320"/>
          </a:xfrm>
          <a:prstGeom prst="ellipse">
            <a:avLst/>
          </a:prstGeom>
          <a:solidFill>
            <a:srgbClr val="0e8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6199560" y="28713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6602040" y="274320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f2a43"/>
                </a:solidFill>
                <a:latin typeface="Calibri"/>
                <a:ea typeface="Calibri"/>
              </a:rPr>
              <a:t>Обоснование выбора подхода к оптимизации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6035040" y="3337560"/>
            <a:ext cx="553176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6199560" y="3465720"/>
            <a:ext cx="292320" cy="292320"/>
          </a:xfrm>
          <a:prstGeom prst="ellipse">
            <a:avLst/>
          </a:prstGeom>
          <a:solidFill>
            <a:srgbClr val="6d5b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6199560" y="3465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6602040" y="333756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f2a43"/>
                </a:solidFill>
                <a:latin typeface="Calibri"/>
                <a:ea typeface="Calibri"/>
              </a:rPr>
              <a:t>Функциональные и нефункциональные требования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6035040" y="3931920"/>
            <a:ext cx="553176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199560" y="4060080"/>
            <a:ext cx="292320" cy="292320"/>
          </a:xfrm>
          <a:prstGeom prst="ellipse">
            <a:avLst/>
          </a:prstGeom>
          <a:solidFill>
            <a:srgbClr val="0e8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6199560" y="40600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6602040" y="393192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f2a43"/>
                </a:solidFill>
                <a:latin typeface="Calibri"/>
                <a:ea typeface="Calibri"/>
              </a:rPr>
              <a:t>Концептуальная и логическая модели (UML/ER)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5"/>
          <p:cNvSpPr/>
          <p:nvPr/>
        </p:nvSpPr>
        <p:spPr>
          <a:xfrm>
            <a:off x="6035040" y="4526280"/>
            <a:ext cx="553176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6"/>
          <p:cNvSpPr/>
          <p:nvPr/>
        </p:nvSpPr>
        <p:spPr>
          <a:xfrm>
            <a:off x="6199560" y="4654440"/>
            <a:ext cx="292320" cy="292320"/>
          </a:xfrm>
          <a:prstGeom prst="ellipse">
            <a:avLst/>
          </a:prstGeom>
          <a:solidFill>
            <a:srgbClr val="6d5b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6199560" y="4654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8"/>
          <p:cNvSpPr/>
          <p:nvPr/>
        </p:nvSpPr>
        <p:spPr>
          <a:xfrm>
            <a:off x="6602040" y="452628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f2a43"/>
                </a:solidFill>
                <a:latin typeface="Calibri"/>
                <a:ea typeface="Calibri"/>
              </a:rPr>
              <a:t>Анализ свойств, ограничений и преимуществ перед аналогами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64008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Деменков И.М. · гр. 12-25 РПмз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110916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640080" y="3841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c8b"/>
                </a:solidFill>
                <a:latin typeface="Calibri"/>
                <a:ea typeface="Calibri"/>
              </a:rPr>
              <a:t>АНАЛИЗ ПРЕДМЕТНОЙ ОБЛАСТИ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640080" y="6584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Ключевые проблемы инкрементальной синхронизации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640080" y="1737360"/>
            <a:ext cx="3611520" cy="3200040"/>
          </a:xfrm>
          <a:prstGeom prst="roundRect">
            <a:avLst>
              <a:gd name="adj" fmla="val 2857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960120" y="2057400"/>
            <a:ext cx="566640" cy="566640"/>
          </a:xfrm>
          <a:prstGeom prst="ellipse">
            <a:avLst/>
          </a:prstGeom>
          <a:solidFill>
            <a:srgbClr val="0e8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960120" y="20574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!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960120" y="278892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Окно недоступности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960120" y="3337560"/>
            <a:ext cx="2971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75b"/>
                </a:solidFill>
                <a:latin typeface="Calibri"/>
                <a:ea typeface="Calibri"/>
              </a:rPr>
              <a:t>При схеме DELETE + INSERT между удалением «хвоста» и вставкой данные временно отсутствуют — запросы возвращают неполный результат.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4471560" y="1737360"/>
            <a:ext cx="3611520" cy="3200040"/>
          </a:xfrm>
          <a:prstGeom prst="roundRect">
            <a:avLst>
              <a:gd name="adj" fmla="val 2857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791600" y="2057400"/>
            <a:ext cx="566640" cy="566640"/>
          </a:xfrm>
          <a:prstGeom prst="ellipse">
            <a:avLst/>
          </a:prstGeom>
          <a:solidFill>
            <a:srgbClr val="6d5b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4791600" y="20574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!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791600" y="278892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Пропуск строк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4791600" y="3337560"/>
            <a:ext cx="2971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75b"/>
                </a:solidFill>
                <a:latin typeface="Calibri"/>
                <a:ea typeface="Calibri"/>
              </a:rPr>
              <a:t>Транзакция с большим ID может зафиксироваться раньше, чем с меньшим; курсор по max(id) «перешагивает» незафиксированную строку.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8302680" y="1737360"/>
            <a:ext cx="3611520" cy="3200040"/>
          </a:xfrm>
          <a:prstGeom prst="roundRect">
            <a:avLst>
              <a:gd name="adj" fmla="val 2857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8622720" y="2057400"/>
            <a:ext cx="566640" cy="566640"/>
          </a:xfrm>
          <a:prstGeom prst="ellipse">
            <a:avLst/>
          </a:prstGeom>
          <a:solidFill>
            <a:srgbClr val="2e8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8622720" y="20574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!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8622720" y="278892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Согласованность чтений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8622720" y="3337560"/>
            <a:ext cx="2971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75b"/>
                </a:solidFill>
                <a:latin typeface="Calibri"/>
                <a:ea typeface="Calibri"/>
              </a:rPr>
              <a:t>Неполные промежуточные состояния таблицы нарушают согласованность аналитических выборок (свойства ACID).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64008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Деменков И.М. · гр. 12-25 РПмз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110916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40080" y="3841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c8b"/>
                </a:solidFill>
                <a:latin typeface="Calibri"/>
                <a:ea typeface="Calibri"/>
              </a:rPr>
              <a:t>ПРЕДЛАГАЕМЫЙ ПОДХОД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40080" y="6584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Промежуточная таблица и атомарное обновление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Image 0" descr="/home/claude/sl_pipeline.png"/>
          <p:cNvPicPr/>
          <p:nvPr/>
        </p:nvPicPr>
        <p:blipFill>
          <a:blip r:embed="rId1"/>
          <a:stretch/>
        </p:blipFill>
        <p:spPr>
          <a:xfrm>
            <a:off x="608040" y="1600200"/>
            <a:ext cx="10972440" cy="3762360"/>
          </a:xfrm>
          <a:prstGeom prst="rect">
            <a:avLst/>
          </a:prstGeom>
          <a:ln w="0">
            <a:noFill/>
          </a:ln>
        </p:spPr>
      </p:pic>
      <p:sp>
        <p:nvSpPr>
          <p:cNvPr id="78" name="Shape 2"/>
          <p:cNvSpPr/>
          <p:nvPr/>
        </p:nvSpPr>
        <p:spPr>
          <a:xfrm>
            <a:off x="640080" y="5682960"/>
            <a:ext cx="5394600" cy="91404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868680" y="568296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e8c8b"/>
                </a:solidFill>
                <a:latin typeface="Calibri"/>
                <a:ea typeface="Calibri"/>
              </a:rPr>
              <a:t>Нет окна недоступности — </a:t>
            </a:r>
            <a:r>
              <a:rPr b="0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обновление крупными блоками без перезаписи на месте.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6263640" y="5682960"/>
            <a:ext cx="5394600" cy="91404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6492240" y="568296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6d5ba6"/>
                </a:solidFill>
                <a:latin typeface="Calibri"/>
                <a:ea typeface="Calibri"/>
              </a:rPr>
              <a:t>Нет пропуска строк — </a:t>
            </a:r>
            <a:r>
              <a:rPr b="0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перечитывание перекрывающегося трейлингового окна (2 ч).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64008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Деменков И.М. · гр. 12-25 РПмз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110916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640080" y="3841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c8b"/>
                </a:solidFill>
                <a:latin typeface="Calibri"/>
                <a:ea typeface="Calibri"/>
              </a:rPr>
              <a:t>МЕТОДЫ ОПТИМИЗАЦИИ ХРАНЕНИЯ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40080" y="6584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Партиционирование, кластеризация и материализованные представления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0" descr="/home/claude/sl_mv.png"/>
          <p:cNvPicPr/>
          <p:nvPr/>
        </p:nvPicPr>
        <p:blipFill>
          <a:blip r:embed="rId1"/>
          <a:stretch/>
        </p:blipFill>
        <p:spPr>
          <a:xfrm>
            <a:off x="1248120" y="1554480"/>
            <a:ext cx="9692280" cy="4020120"/>
          </a:xfrm>
          <a:prstGeom prst="rect">
            <a:avLst/>
          </a:prstGeom>
          <a:ln w="0">
            <a:noFill/>
          </a:ln>
        </p:spPr>
      </p:pic>
      <p:sp>
        <p:nvSpPr>
          <p:cNvPr id="87" name="Text 2"/>
          <p:cNvSpPr/>
          <p:nvPr/>
        </p:nvSpPr>
        <p:spPr>
          <a:xfrm>
            <a:off x="640080" y="57578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Партиционирование по дню (created_at) и кластеризация по домену клиента — </a:t>
            </a:r>
            <a:r>
              <a:rPr b="0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меньше сканируемых данных и стоимость запросов. Доступ клиентов — через MV к общему датасету вместо копирования: одна копия вместо n + 1, быстрее загрузка.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64008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Деменков И.М. · гр. 12-25 РПмз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110916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640080" y="3841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c8b"/>
                </a:solidFill>
                <a:latin typeface="Calibri"/>
                <a:ea typeface="Calibri"/>
              </a:rPr>
              <a:t>МОДЕЛИ И ТРЕБОВАНИЯ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640080" y="6584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f2a43"/>
                </a:solidFill>
                <a:latin typeface="Century Schoolbook"/>
                <a:ea typeface="Century Schoolbook"/>
              </a:rPr>
              <a:t>Формализация средствами UML/ER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640080" y="1600200"/>
            <a:ext cx="5394600" cy="3382920"/>
          </a:xfrm>
          <a:prstGeom prst="roundRect">
            <a:avLst>
              <a:gd name="adj" fmla="val 2703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914400" y="17373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8c8b"/>
                </a:solidFill>
                <a:latin typeface="Calibri"/>
                <a:ea typeface="Calibri"/>
              </a:rPr>
              <a:t>Модели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914400" y="2148840"/>
            <a:ext cx="48459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4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Концептуальная — </a:t>
            </a:r>
            <a:r>
              <a:rPr b="0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UML-диаграмма деятельности цикла синхронизации (clone → перекрытие → загрузка → обновление → фиксация границы).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4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Логическая — </a:t>
            </a:r>
            <a:r>
              <a:rPr b="0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ER-модель: источник → промежуточная таблица (клон) → целевая таблица; ключ слияния id, партиционирование и кластеризация.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6263640" y="1600200"/>
            <a:ext cx="5394600" cy="3382920"/>
          </a:xfrm>
          <a:prstGeom prst="roundRect">
            <a:avLst>
              <a:gd name="adj" fmla="val 2703"/>
            </a:avLst>
          </a:prstGeom>
          <a:solidFill>
            <a:srgbClr val="f4f8fb"/>
          </a:solidFill>
          <a:ln w="12700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6537960" y="17373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6d5ba6"/>
                </a:solidFill>
                <a:latin typeface="Calibri"/>
                <a:ea typeface="Calibri"/>
              </a:rPr>
              <a:t>Требования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6537960" y="2148840"/>
            <a:ext cx="48459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Функциональные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33475b"/>
                </a:solidFill>
                <a:latin typeface="Calibri"/>
                <a:ea typeface="Calibri"/>
              </a:rPr>
              <a:t>инкрементальный перенос; перекрытие окна; промежуточная таблица клонированием; атомарная замена / слияние; resync по ID и дате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0f2a43"/>
                </a:solidFill>
                <a:latin typeface="Calibri"/>
                <a:ea typeface="Calibri"/>
              </a:rPr>
              <a:t>Нефункциональные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75b"/>
                </a:solidFill>
                <a:latin typeface="Calibri"/>
                <a:ea typeface="Calibri"/>
              </a:rPr>
              <a:t>непрерывная доступность; полнота и сохранность; идемпотентность; согласованность; масштабируемость; наблюдаемость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64008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Деменков И.М. · гр. 12-25 РПмз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110916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Calibri"/>
                <a:ea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-1188720" y="4023360"/>
            <a:ext cx="4937400" cy="4937400"/>
          </a:xfrm>
          <a:prstGeom prst="roundRect">
            <a:avLst>
              <a:gd name="adj" fmla="val 7407"/>
            </a:avLst>
          </a:prstGeom>
          <a:solidFill>
            <a:srgbClr val="0e8c8b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640080" y="640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8fe3d6"/>
                </a:solidFill>
                <a:latin typeface="Calibri"/>
                <a:ea typeface="Calibri"/>
              </a:rPr>
              <a:t>РЕЗУЛЬТАТЫ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640080" y="9601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Выводы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640080" y="1920240"/>
            <a:ext cx="106066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16000"/>
              </a:lnSpc>
              <a:spcAft>
                <a:spcPts val="1001"/>
              </a:spcAft>
              <a:buClr>
                <a:srgbClr val="eaf2f8"/>
              </a:buClr>
              <a:buFont typeface="Symbol" charset="2"/>
              <a:buChar char=""/>
            </a:pPr>
            <a:r>
              <a:rPr b="0" lang="en-US" sz="1650" spc="-1" strike="noStrike">
                <a:solidFill>
                  <a:srgbClr val="eaf2f8"/>
                </a:solidFill>
                <a:latin typeface="Calibri"/>
                <a:ea typeface="Calibri"/>
              </a:rPr>
              <a:t>Проведён аналитический обзор и поставлена научная задача с выявленными ограничениями существующих подходов.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16000"/>
              </a:lnSpc>
              <a:spcAft>
                <a:spcPts val="1001"/>
              </a:spcAft>
              <a:buClr>
                <a:srgbClr val="eaf2f8"/>
              </a:buClr>
              <a:buFont typeface="Symbol" charset="2"/>
              <a:buChar char=""/>
            </a:pPr>
            <a:r>
              <a:rPr b="0" lang="en-US" sz="1650" spc="-1" strike="noStrike">
                <a:solidFill>
                  <a:srgbClr val="eaf2f8"/>
                </a:solidFill>
                <a:latin typeface="Calibri"/>
                <a:ea typeface="Calibri"/>
              </a:rPr>
              <a:t>Обоснован выбор подхода к оптимизации и сформулированы функциональные и нефункциональные требования.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16000"/>
              </a:lnSpc>
              <a:spcAft>
                <a:spcPts val="1001"/>
              </a:spcAft>
              <a:buClr>
                <a:srgbClr val="eaf2f8"/>
              </a:buClr>
              <a:buFont typeface="Symbol" charset="2"/>
              <a:buChar char=""/>
            </a:pPr>
            <a:r>
              <a:rPr b="0" lang="en-US" sz="1650" spc="-1" strike="noStrike">
                <a:solidFill>
                  <a:srgbClr val="eaf2f8"/>
                </a:solidFill>
                <a:latin typeface="Calibri"/>
                <a:ea typeface="Calibri"/>
              </a:rPr>
              <a:t>Разработаны и формализованы средствами UML/ER концептуальная и логическая модели оптимизированной синхронизации.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16000"/>
              </a:lnSpc>
              <a:buClr>
                <a:srgbClr val="eaf2f8"/>
              </a:buClr>
              <a:buFont typeface="Symbol" charset="2"/>
              <a:buChar char=""/>
            </a:pPr>
            <a:r>
              <a:rPr b="0" lang="en-US" sz="1650" spc="-1" strike="noStrike">
                <a:solidFill>
                  <a:srgbClr val="eaf2f8"/>
                </a:solidFill>
                <a:latin typeface="Calibri"/>
                <a:ea typeface="Calibri"/>
              </a:rPr>
              <a:t>Выполнен анализ свойств, ограничений и областей применимости; обоснованы преимущества перед аналогами.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640080" y="539496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b9d2e6"/>
                </a:solidFill>
                <a:latin typeface="Calibri"/>
                <a:ea typeface="Calibri"/>
              </a:rPr>
              <a:t>Разработанные модели образуют теоретическую основу предложенного метода оптимизации.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640080" y="603504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Спасибо за внимание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2026-06-10T09:33:26Z</dcterms:created>
  <dc:creator>Деменков И.М.</dc:creator>
  <dc:description/>
  <dc:language>en-US</dc:language>
  <cp:lastModifiedBy/>
  <dcterms:modified xsi:type="dcterms:W3CDTF">2026-06-10T13:27:15Z</dcterms:modified>
  <cp:revision>2</cp:revision>
  <dc:subject>PptxGenJS Presentation</dc:subject>
  <dc:title>Методы оптимизации хранения и обработки данных — Деменков И.М.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